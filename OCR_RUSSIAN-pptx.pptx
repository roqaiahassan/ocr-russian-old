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Calibri" pitchFamily="34" charset="0"/>
      <p:regular r:id="rId13"/>
      <p:bold r:id="rId14"/>
    </p:embeddedFont>
    <p:embeddedFont>
      <p:font typeface="Lato Bold" charset="0"/>
      <p:regular r:id="rId15"/>
    </p:embeddedFont>
    <p:embeddedFont>
      <p:font typeface="Consolas" pitchFamily="49" charset="0"/>
      <p:regular r:id="rId16"/>
      <p:bold r:id="rId17"/>
      <p:italic r:id="rId18"/>
      <p:boldItalic r:id="rId19"/>
    </p:embeddedFont>
    <p:embeddedFont>
      <p:font typeface="Lato" charset="0"/>
      <p:regular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6" d="100"/>
          <a:sy n="76" d="100"/>
        </p:scale>
        <p:origin x="-272" y="1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609600"/>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609600"/>
          </a:xfrm>
          <a:prstGeom prst="rect">
            <a:avLst/>
          </a:prstGeom>
        </p:spPr>
        <p:txBody>
          <a:bodyPr vert="horz" lIns="91440" tIns="45720" rIns="91440" bIns="45720" rtlCol="1"/>
          <a:lstStyle>
            <a:lvl1pPr algn="l">
              <a:defRPr sz="1200"/>
            </a:lvl1pPr>
          </a:lstStyle>
          <a:p>
            <a:fld id="{2EE269D5-3D71-4738-91EB-8831F1A526D5}" type="datetimeFigureOut">
              <a:rPr lang="ar-SA" smtClean="0"/>
              <a:t>26/03/48</a:t>
            </a:fld>
            <a:endParaRPr lang="ar-SA"/>
          </a:p>
        </p:txBody>
      </p:sp>
      <p:sp>
        <p:nvSpPr>
          <p:cNvPr id="4" name="عنصر نائب لصورة الشريحة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5791200"/>
            <a:ext cx="5486400" cy="5486400"/>
          </a:xfrm>
          <a:prstGeom prst="rect">
            <a:avLst/>
          </a:prstGeom>
        </p:spPr>
        <p:txBody>
          <a:bodyPr vert="horz" lIns="91440" tIns="45720" rIns="91440" bIns="45720" rtlCol="1"/>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6" name="عنصر نائب للتذييل 5"/>
          <p:cNvSpPr>
            <a:spLocks noGrp="1"/>
          </p:cNvSpPr>
          <p:nvPr>
            <p:ph type="ftr" sz="quarter" idx="4"/>
          </p:nvPr>
        </p:nvSpPr>
        <p:spPr>
          <a:xfrm>
            <a:off x="3886200" y="11580813"/>
            <a:ext cx="2971800" cy="609600"/>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11580813"/>
            <a:ext cx="2971800" cy="609600"/>
          </a:xfrm>
          <a:prstGeom prst="rect">
            <a:avLst/>
          </a:prstGeom>
        </p:spPr>
        <p:txBody>
          <a:bodyPr vert="horz" lIns="91440" tIns="45720" rIns="91440" bIns="45720" rtlCol="1" anchor="b"/>
          <a:lstStyle>
            <a:lvl1pPr algn="l">
              <a:defRPr sz="1200"/>
            </a:lvl1pPr>
          </a:lstStyle>
          <a:p>
            <a:fld id="{E98DBEF5-7E65-4DD1-A73B-5DCD4F29F9D6}" type="slidenum">
              <a:rPr lang="ar-SA" smtClean="0"/>
              <a:t>‹#›</a:t>
            </a:fld>
            <a:endParaRPr lang="ar-SA"/>
          </a:p>
        </p:txBody>
      </p:sp>
    </p:spTree>
    <p:extLst>
      <p:ext uri="{BB962C8B-B14F-4D97-AF65-F5344CB8AC3E}">
        <p14:creationId xmlns:p14="http://schemas.microsoft.com/office/powerpoint/2010/main" val="419393497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DDD6CC"/>
          </a:solidFill>
          <a:ln/>
        </p:spPr>
      </p:sp>
      <p:sp>
        <p:nvSpPr>
          <p:cNvPr id="3" name="Shape 1"/>
          <p:cNvSpPr/>
          <p:nvPr/>
        </p:nvSpPr>
        <p:spPr>
          <a:xfrm>
            <a:off x="0" y="0"/>
            <a:ext cx="12191695" cy="6858000"/>
          </a:xfrm>
          <a:prstGeom prst="rect">
            <a:avLst/>
          </a:prstGeom>
          <a:solidFill>
            <a:srgbClr val="EFECE6"/>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2.svg"/><Relationship Id="rId4" Type="http://schemas.openxmlformats.org/officeDocument/2006/relationships/image" Target="../media/image-3-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2.svg"/><Relationship Id="rId4" Type="http://schemas.openxmlformats.org/officeDocument/2006/relationships/image" Target="../media/image-3-2.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2.svg"/><Relationship Id="rId4" Type="http://schemas.openxmlformats.org/officeDocument/2006/relationships/image" Target="../media/image-10-2.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914128"/>
            <a:ext cx="10868745" cy="1033463"/>
          </a:xfrm>
          <a:prstGeom prst="rect">
            <a:avLst/>
          </a:prstGeom>
          <a:noFill/>
          <a:ln/>
        </p:spPr>
        <p:txBody>
          <a:bodyPr wrap="square" lIns="0" tIns="0" rIns="0" bIns="0" rtlCol="0" anchor="t">
            <a:normAutofit/>
          </a:bodyPr>
          <a:lstStyle/>
          <a:p>
            <a:pPr marL="0" indent="0" algn="ctr" rtl="1">
              <a:lnSpc>
                <a:spcPct val="104000"/>
              </a:lnSpc>
              <a:buNone/>
            </a:pPr>
            <a:r>
              <a:rPr lang="ar-SA" altLang="en-US" sz="3250" b="1" dirty="0">
                <a:solidFill>
                  <a:srgbClr val="282824"/>
                </a:solidFill>
                <a:latin typeface="Arial" pitchFamily="34" charset="0"/>
                <a:ea typeface="Arial" pitchFamily="34" charset="-122"/>
                <a:cs typeface="Arial" pitchFamily="34" charset="-120"/>
              </a:rPr>
              <a:t>نظام OCR للتعرف البصري على حروف مخطوطات اللغة الروسية القديمة باستخدام YOLO</a:t>
            </a:r>
            <a:endParaRPr lang="ar-SA" sz="3250" dirty="0"/>
          </a:p>
        </p:txBody>
      </p:sp>
      <p:sp>
        <p:nvSpPr>
          <p:cNvPr id="3" name="Text 1"/>
          <p:cNvSpPr/>
          <p:nvPr/>
        </p:nvSpPr>
        <p:spPr>
          <a:xfrm>
            <a:off x="356682" y="3278287"/>
            <a:ext cx="11478330" cy="264616"/>
          </a:xfrm>
          <a:prstGeom prst="rect">
            <a:avLst/>
          </a:prstGeom>
          <a:noFill/>
          <a:ln/>
        </p:spPr>
        <p:txBody>
          <a:bodyPr wrap="none" lIns="0" tIns="0" rIns="0" bIns="0" rtlCol="0" anchor="t"/>
          <a:lstStyle/>
          <a:p>
            <a:pPr marL="0" indent="0" algn="ctr" rtl="1">
              <a:lnSpc>
                <a:spcPct val="133000"/>
              </a:lnSpc>
              <a:buNone/>
            </a:pPr>
            <a:r>
              <a:rPr lang="ar-SA" altLang="en-US" sz="1300" dirty="0">
                <a:solidFill>
                  <a:srgbClr val="4A4A45"/>
                </a:solidFill>
                <a:latin typeface="Arial" pitchFamily="34" charset="0"/>
                <a:ea typeface="Arial" pitchFamily="34" charset="-122"/>
                <a:cs typeface="Arial" pitchFamily="34" charset="-120"/>
              </a:rPr>
              <a:t>نظام </a:t>
            </a:r>
            <a:r>
              <a:rPr lang="ar-SA" altLang="en-US" sz="1300" dirty="0" smtClean="0">
                <a:solidFill>
                  <a:srgbClr val="4A4A45"/>
                </a:solidFill>
                <a:latin typeface="Arial" pitchFamily="34" charset="0"/>
                <a:ea typeface="Arial" pitchFamily="34" charset="-122"/>
                <a:cs typeface="Arial" pitchFamily="34" charset="-120"/>
              </a:rPr>
              <a:t>للتعرف </a:t>
            </a:r>
            <a:r>
              <a:rPr lang="ar-SA" altLang="en-US" sz="1300" dirty="0">
                <a:solidFill>
                  <a:srgbClr val="4A4A45"/>
                </a:solidFill>
                <a:latin typeface="Arial" pitchFamily="34" charset="0"/>
                <a:ea typeface="Arial" pitchFamily="34" charset="-122"/>
                <a:cs typeface="Arial" pitchFamily="34" charset="-120"/>
              </a:rPr>
              <a:t>على الحروف واستخراج النصوص من صور المخطوطات التاريخية</a:t>
            </a:r>
            <a:endParaRPr lang="ar-SA" sz="1300" dirty="0"/>
          </a:p>
        </p:txBody>
      </p:sp>
      <p:sp>
        <p:nvSpPr>
          <p:cNvPr id="4" name="Shape 2"/>
          <p:cNvSpPr/>
          <p:nvPr/>
        </p:nvSpPr>
        <p:spPr>
          <a:xfrm>
            <a:off x="661475" y="3770213"/>
            <a:ext cx="10868745" cy="19050"/>
          </a:xfrm>
          <a:prstGeom prst="roundRect">
            <a:avLst>
              <a:gd name="adj" fmla="val 49999"/>
            </a:avLst>
          </a:prstGeom>
          <a:solidFill>
            <a:srgbClr val="4A4A45">
              <a:alpha val="50000"/>
            </a:srgbClr>
          </a:solidFill>
          <a:ln/>
        </p:spPr>
      </p:sp>
      <p:sp>
        <p:nvSpPr>
          <p:cNvPr id="5" name="Shape 3"/>
          <p:cNvSpPr/>
          <p:nvPr/>
        </p:nvSpPr>
        <p:spPr>
          <a:xfrm>
            <a:off x="5030066" y="4202609"/>
            <a:ext cx="864074" cy="251420"/>
          </a:xfrm>
          <a:prstGeom prst="roundRect">
            <a:avLst>
              <a:gd name="adj" fmla="val 7894"/>
            </a:avLst>
          </a:prstGeom>
          <a:noFill/>
          <a:ln w="6350">
            <a:noFill/>
            <a:prstDash val="solid"/>
          </a:ln>
        </p:spPr>
      </p:sp>
      <p:sp>
        <p:nvSpPr>
          <p:cNvPr id="6" name="Text 4"/>
          <p:cNvSpPr/>
          <p:nvPr/>
        </p:nvSpPr>
        <p:spPr>
          <a:xfrm>
            <a:off x="4519698" y="4252218"/>
            <a:ext cx="1275227" cy="152202"/>
          </a:xfrm>
          <a:prstGeom prst="rect">
            <a:avLst/>
          </a:prstGeom>
          <a:noFill/>
          <a:ln/>
        </p:spPr>
        <p:txBody>
          <a:bodyPr wrap="none" lIns="0" tIns="0" rIns="0" bIns="0" rtlCol="0" anchor="t"/>
          <a:lstStyle/>
          <a:p>
            <a:pPr marL="0" indent="0" algn="r" rtl="1">
              <a:lnSpc>
                <a:spcPct val="96000"/>
              </a:lnSpc>
              <a:buNone/>
            </a:pPr>
            <a:r>
              <a:rPr lang="ar-SA" altLang="en-US" sz="1200" b="1" dirty="0">
                <a:solidFill>
                  <a:srgbClr val="282824"/>
                </a:solidFill>
                <a:latin typeface="Arial" pitchFamily="34" charset="0"/>
                <a:ea typeface="Arial" pitchFamily="34" charset="-122"/>
                <a:cs typeface="Arial" pitchFamily="34" charset="-120"/>
              </a:rPr>
              <a:t>إعداد الطالب</a:t>
            </a:r>
            <a:endParaRPr lang="ar-SA" sz="1200" b="1" dirty="0"/>
          </a:p>
        </p:txBody>
      </p:sp>
      <p:sp>
        <p:nvSpPr>
          <p:cNvPr id="7" name="Text 5"/>
          <p:cNvSpPr/>
          <p:nvPr/>
        </p:nvSpPr>
        <p:spPr>
          <a:xfrm>
            <a:off x="661475" y="4520109"/>
            <a:ext cx="5232666"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282824"/>
                </a:solidFill>
                <a:latin typeface="Arial" pitchFamily="34" charset="0"/>
                <a:ea typeface="Arial" pitchFamily="34" charset="-122"/>
                <a:cs typeface="Arial" pitchFamily="34" charset="-120"/>
              </a:rPr>
              <a:t>رقية حسن أحمد النزيلي</a:t>
            </a:r>
            <a:endParaRPr lang="ar-SA" sz="1600" dirty="0"/>
          </a:p>
        </p:txBody>
      </p:sp>
      <p:sp>
        <p:nvSpPr>
          <p:cNvPr id="8" name="Shape 6"/>
          <p:cNvSpPr/>
          <p:nvPr/>
        </p:nvSpPr>
        <p:spPr>
          <a:xfrm>
            <a:off x="10475650" y="4110087"/>
            <a:ext cx="1054570" cy="317500"/>
          </a:xfrm>
          <a:prstGeom prst="roundRect">
            <a:avLst>
              <a:gd name="adj" fmla="val 7894"/>
            </a:avLst>
          </a:prstGeom>
          <a:noFill/>
          <a:ln w="6350">
            <a:noFill/>
            <a:prstDash val="solid"/>
          </a:ln>
        </p:spPr>
      </p:sp>
      <p:sp>
        <p:nvSpPr>
          <p:cNvPr id="9" name="Text 7"/>
          <p:cNvSpPr/>
          <p:nvPr/>
        </p:nvSpPr>
        <p:spPr>
          <a:xfrm>
            <a:off x="10482000" y="4252218"/>
            <a:ext cx="955353" cy="152202"/>
          </a:xfrm>
          <a:prstGeom prst="rect">
            <a:avLst/>
          </a:prstGeom>
          <a:noFill/>
          <a:ln/>
        </p:spPr>
        <p:txBody>
          <a:bodyPr wrap="none" lIns="0" tIns="0" rIns="0" bIns="0" rtlCol="0" anchor="t"/>
          <a:lstStyle/>
          <a:p>
            <a:pPr marL="0" indent="0" algn="r" rtl="1">
              <a:lnSpc>
                <a:spcPct val="96000"/>
              </a:lnSpc>
              <a:buNone/>
            </a:pPr>
            <a:r>
              <a:rPr lang="ar-SA" altLang="en-US" sz="1200" b="1" dirty="0">
                <a:solidFill>
                  <a:srgbClr val="282824"/>
                </a:solidFill>
                <a:latin typeface="Arial" pitchFamily="34" charset="0"/>
                <a:ea typeface="Arial" pitchFamily="34" charset="-122"/>
                <a:cs typeface="Arial" pitchFamily="34" charset="-120"/>
              </a:rPr>
              <a:t>إشراف</a:t>
            </a:r>
            <a:endParaRPr lang="ar-SA" sz="1200" b="1" dirty="0"/>
          </a:p>
        </p:txBody>
      </p:sp>
      <p:sp>
        <p:nvSpPr>
          <p:cNvPr id="10" name="Text 8"/>
          <p:cNvSpPr/>
          <p:nvPr/>
        </p:nvSpPr>
        <p:spPr>
          <a:xfrm>
            <a:off x="6303904" y="4520109"/>
            <a:ext cx="5232666"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282824"/>
                </a:solidFill>
                <a:latin typeface="Arial" pitchFamily="34" charset="0"/>
                <a:ea typeface="Arial" pitchFamily="34" charset="-122"/>
                <a:cs typeface="Arial" pitchFamily="34" charset="-120"/>
              </a:rPr>
              <a:t>د. أكرم الصباري</a:t>
            </a:r>
            <a:endParaRPr lang="ar-SA"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13482"/>
            <a:ext cx="10868745" cy="516731"/>
          </a:xfrm>
          <a:prstGeom prst="rect">
            <a:avLst/>
          </a:prstGeom>
          <a:noFill/>
          <a:ln/>
        </p:spPr>
        <p:txBody>
          <a:bodyPr wrap="none" lIns="0" tIns="0" rIns="0" bIns="0" rtlCol="0" anchor="t"/>
          <a:lstStyle/>
          <a:p>
            <a:pPr marL="0" indent="0" algn="r" rtl="1">
              <a:lnSpc>
                <a:spcPct val="104000"/>
              </a:lnSpc>
              <a:buNone/>
            </a:pPr>
            <a:r>
              <a:rPr lang="ar-SA" altLang="en-US" sz="3250" b="1" dirty="0">
                <a:solidFill>
                  <a:srgbClr val="282824"/>
                </a:solidFill>
                <a:latin typeface="Arial" pitchFamily="34" charset="0"/>
                <a:ea typeface="Arial" pitchFamily="34" charset="-122"/>
                <a:cs typeface="Arial" pitchFamily="34" charset="-120"/>
              </a:rPr>
              <a:t>المقدمة وفكرة المشروع</a:t>
            </a:r>
            <a:endParaRPr lang="ar-SA" sz="3250" dirty="0"/>
          </a:p>
        </p:txBody>
      </p:sp>
      <p:sp>
        <p:nvSpPr>
          <p:cNvPr id="3" name="Text 1"/>
          <p:cNvSpPr/>
          <p:nvPr/>
        </p:nvSpPr>
        <p:spPr>
          <a:xfrm>
            <a:off x="661475" y="1560909"/>
            <a:ext cx="10868745" cy="529233"/>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يهدف هذا المشروع إلى بناء نظام OCR قادر على اكتشاف الحروف في صور المخطوطات الروسية القديمة، تحديد مواقعها، وإعادة ترتيبها إلى نص قابل للقراءة. يعتمد النهج على التعامل مع كل حرف كفئة مستقلة (Class) يتم اكتشافها باستخدام خوارزميات التعلم العميق ونموذج YOLO.</a:t>
            </a:r>
            <a:endParaRPr lang="ar-SA" sz="1300" dirty="0"/>
          </a:p>
        </p:txBody>
      </p:sp>
      <p:pic>
        <p:nvPicPr>
          <p:cNvPr id="4" name="Image 0" descr="preencoded.png"/>
          <p:cNvPicPr>
            <a:picLocks noChangeAspect="1"/>
          </p:cNvPicPr>
          <p:nvPr/>
        </p:nvPicPr>
        <p:blipFill>
          <a:blip r:embed="rId3"/>
          <a:stretch>
            <a:fillRect/>
          </a:stretch>
        </p:blipFill>
        <p:spPr>
          <a:xfrm>
            <a:off x="1869830" y="2276177"/>
            <a:ext cx="8452035" cy="3868341"/>
          </a:xfrm>
          <a:prstGeom prst="rect">
            <a:avLst/>
          </a:prstGeom>
        </p:spPr>
      </p:pic>
      <p:sp>
        <p:nvSpPr>
          <p:cNvPr id="5" name="Text 2"/>
          <p:cNvSpPr/>
          <p:nvPr/>
        </p:nvSpPr>
        <p:spPr>
          <a:xfrm>
            <a:off x="2263272" y="5225909"/>
            <a:ext cx="1586817" cy="305687"/>
          </a:xfrm>
          <a:prstGeom prst="rect">
            <a:avLst/>
          </a:prstGeom>
          <a:noFill/>
          <a:ln/>
        </p:spPr>
        <p:txBody>
          <a:bodyPr wrap="none" lIns="0" tIns="0" rIns="0" bIns="0" rtlCol="0" anchor="t"/>
          <a:lstStyle/>
          <a:p>
            <a:pPr marL="0" indent="0" algn="ctr" rtl="1">
              <a:lnSpc>
                <a:spcPct val="104000"/>
              </a:lnSpc>
              <a:buNone/>
            </a:pPr>
            <a:r>
              <a:rPr lang="ar-SA" altLang="en-US" sz="1900" b="1" dirty="0">
                <a:solidFill>
                  <a:srgbClr val="4A4A45"/>
                </a:solidFill>
                <a:latin typeface="Arial" pitchFamily="34" charset="0"/>
                <a:ea typeface="Arial" pitchFamily="34" charset="-122"/>
                <a:cs typeface="Arial" pitchFamily="34" charset="-120"/>
              </a:rPr>
              <a:t>استخراج النص</a:t>
            </a:r>
            <a:endParaRPr lang="ar-SA" sz="1900" dirty="0"/>
          </a:p>
        </p:txBody>
      </p:sp>
      <p:sp>
        <p:nvSpPr>
          <p:cNvPr id="6" name="Text 3"/>
          <p:cNvSpPr/>
          <p:nvPr/>
        </p:nvSpPr>
        <p:spPr>
          <a:xfrm>
            <a:off x="4263096" y="5225909"/>
            <a:ext cx="1586817" cy="305687"/>
          </a:xfrm>
          <a:prstGeom prst="rect">
            <a:avLst/>
          </a:prstGeom>
          <a:noFill/>
          <a:ln/>
        </p:spPr>
        <p:txBody>
          <a:bodyPr wrap="none" lIns="0" tIns="0" rIns="0" bIns="0" rtlCol="0" anchor="t"/>
          <a:lstStyle/>
          <a:p>
            <a:pPr marL="0" indent="0" algn="ctr" rtl="1">
              <a:lnSpc>
                <a:spcPct val="104000"/>
              </a:lnSpc>
              <a:buNone/>
            </a:pPr>
            <a:r>
              <a:rPr lang="ar-SA" altLang="en-US" sz="1900" b="1" dirty="0">
                <a:solidFill>
                  <a:srgbClr val="4A4A45"/>
                </a:solidFill>
                <a:latin typeface="Arial" pitchFamily="34" charset="0"/>
                <a:ea typeface="Arial" pitchFamily="34" charset="-122"/>
                <a:cs typeface="Arial" pitchFamily="34" charset="-120"/>
              </a:rPr>
              <a:t>المعالجة اللاحقة</a:t>
            </a:r>
            <a:endParaRPr lang="ar-SA" sz="1900" dirty="0"/>
          </a:p>
        </p:txBody>
      </p:sp>
      <p:sp>
        <p:nvSpPr>
          <p:cNvPr id="7" name="Text 4"/>
          <p:cNvSpPr/>
          <p:nvPr/>
        </p:nvSpPr>
        <p:spPr>
          <a:xfrm>
            <a:off x="6252051" y="5225909"/>
            <a:ext cx="1586817" cy="305687"/>
          </a:xfrm>
          <a:prstGeom prst="rect">
            <a:avLst/>
          </a:prstGeom>
          <a:noFill/>
          <a:ln/>
        </p:spPr>
        <p:txBody>
          <a:bodyPr wrap="none" lIns="0" tIns="0" rIns="0" bIns="0" rtlCol="0" anchor="t"/>
          <a:lstStyle/>
          <a:p>
            <a:pPr marL="0" indent="0" algn="ctr" rtl="1">
              <a:lnSpc>
                <a:spcPct val="104000"/>
              </a:lnSpc>
              <a:buNone/>
            </a:pPr>
            <a:r>
              <a:rPr lang="ar-SA" altLang="en-US" sz="1900" b="1" dirty="0">
                <a:solidFill>
                  <a:srgbClr val="4A4A45"/>
                </a:solidFill>
                <a:latin typeface="Arial" pitchFamily="34" charset="0"/>
                <a:ea typeface="Arial" pitchFamily="34" charset="-122"/>
                <a:cs typeface="Arial" pitchFamily="34" charset="-120"/>
              </a:rPr>
              <a:t>اكتشاف الحروف</a:t>
            </a:r>
            <a:endParaRPr lang="ar-SA" sz="1900" dirty="0"/>
          </a:p>
        </p:txBody>
      </p:sp>
      <p:sp>
        <p:nvSpPr>
          <p:cNvPr id="8" name="Text 5"/>
          <p:cNvSpPr/>
          <p:nvPr/>
        </p:nvSpPr>
        <p:spPr>
          <a:xfrm>
            <a:off x="8284481" y="5225909"/>
            <a:ext cx="1586817" cy="305687"/>
          </a:xfrm>
          <a:prstGeom prst="rect">
            <a:avLst/>
          </a:prstGeom>
          <a:noFill/>
          <a:ln/>
        </p:spPr>
        <p:txBody>
          <a:bodyPr wrap="none" lIns="0" tIns="0" rIns="0" bIns="0" rtlCol="0" anchor="t"/>
          <a:lstStyle/>
          <a:p>
            <a:pPr marL="0" indent="0" algn="ctr" rtl="1">
              <a:lnSpc>
                <a:spcPct val="104000"/>
              </a:lnSpc>
              <a:buNone/>
            </a:pPr>
            <a:r>
              <a:rPr lang="ar-SA" altLang="en-US" sz="1900" b="1" dirty="0">
                <a:solidFill>
                  <a:srgbClr val="4A4A45"/>
                </a:solidFill>
                <a:latin typeface="Arial" pitchFamily="34" charset="0"/>
                <a:ea typeface="Arial" pitchFamily="34" charset="-122"/>
                <a:cs typeface="Arial" pitchFamily="34" charset="-120"/>
              </a:rPr>
              <a:t>استقبال الصورة</a:t>
            </a:r>
            <a:endParaRPr lang="ar-SA"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456234"/>
            <a:ext cx="10868745" cy="516731"/>
          </a:xfrm>
          <a:prstGeom prst="rect">
            <a:avLst/>
          </a:prstGeom>
          <a:noFill/>
          <a:ln/>
        </p:spPr>
        <p:txBody>
          <a:bodyPr wrap="none" lIns="0" tIns="0" rIns="0" bIns="0" rtlCol="0" anchor="t"/>
          <a:lstStyle/>
          <a:p>
            <a:pPr marL="0" indent="0" algn="r" rtl="1">
              <a:lnSpc>
                <a:spcPct val="104000"/>
              </a:lnSpc>
              <a:buNone/>
            </a:pPr>
            <a:r>
              <a:rPr lang="ar-SA" altLang="en-US" sz="3250" b="1" dirty="0">
                <a:solidFill>
                  <a:srgbClr val="282824"/>
                </a:solidFill>
                <a:latin typeface="Arial" pitchFamily="34" charset="0"/>
                <a:ea typeface="Arial" pitchFamily="34" charset="-122"/>
                <a:cs typeface="Arial" pitchFamily="34" charset="-120"/>
              </a:rPr>
              <a:t>إعداد الأبجدية والبيانات الاصطناعية</a:t>
            </a:r>
            <a:endParaRPr lang="ar-SA" sz="3250" dirty="0"/>
          </a:p>
        </p:txBody>
      </p:sp>
      <p:pic>
        <p:nvPicPr>
          <p:cNvPr id="3" name="Image 0" descr="preencoded.png"/>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661475" y="2407047"/>
            <a:ext cx="5232666" cy="1321693"/>
          </a:xfrm>
          <a:prstGeom prst="rect">
            <a:avLst/>
          </a:prstGeom>
        </p:spPr>
      </p:pic>
      <p:sp>
        <p:nvSpPr>
          <p:cNvPr id="4" name="Text 1"/>
          <p:cNvSpPr/>
          <p:nvPr/>
        </p:nvSpPr>
        <p:spPr>
          <a:xfrm>
            <a:off x="845819" y="2591395"/>
            <a:ext cx="4787780"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تجهيز الأبجدية</a:t>
            </a:r>
            <a:endParaRPr lang="ar-SA" sz="1600" dirty="0"/>
          </a:p>
        </p:txBody>
      </p:sp>
      <p:sp>
        <p:nvSpPr>
          <p:cNvPr id="5" name="Text 2"/>
          <p:cNvSpPr/>
          <p:nvPr/>
        </p:nvSpPr>
        <p:spPr>
          <a:xfrm>
            <a:off x="845819" y="3015159"/>
            <a:ext cx="4787780" cy="529233"/>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chemeClr val="bg2">
                    <a:lumMod val="25000"/>
                  </a:schemeClr>
                </a:solidFill>
                <a:latin typeface="Arial" pitchFamily="34" charset="0"/>
                <a:ea typeface="Arial" pitchFamily="34" charset="-122"/>
                <a:cs typeface="Arial" pitchFamily="34" charset="-120"/>
              </a:rPr>
              <a:t>مطابقة الحروف بين ملف </a:t>
            </a:r>
            <a:r>
              <a:rPr lang="ar-SA" altLang="en-US" sz="1300" dirty="0">
                <a:solidFill>
                  <a:schemeClr val="bg2">
                    <a:lumMod val="25000"/>
                  </a:schemeClr>
                </a:solidFill>
                <a:highlight>
                  <a:srgbClr val="E2DFD9"/>
                </a:highlight>
                <a:latin typeface="Consolas" pitchFamily="34" charset="0"/>
                <a:ea typeface="Consolas" pitchFamily="34" charset="-122"/>
                <a:cs typeface="Consolas" pitchFamily="34" charset="-120"/>
              </a:rPr>
              <a:t>Alphabet.json</a:t>
            </a:r>
            <a:r>
              <a:rPr lang="ar-SA" altLang="en-US" sz="1300" dirty="0">
                <a:solidFill>
                  <a:schemeClr val="bg2">
                    <a:lumMod val="25000"/>
                  </a:schemeClr>
                </a:solidFill>
                <a:latin typeface="Arial" pitchFamily="34" charset="0"/>
                <a:ea typeface="Arial" pitchFamily="34" charset="-122"/>
                <a:cs typeface="Arial" pitchFamily="34" charset="-120"/>
              </a:rPr>
              <a:t> والـ Corpus النصي لتشكيل </a:t>
            </a:r>
            <a:r>
              <a:rPr lang="ar-SA" altLang="en-US" sz="1300" b="1" dirty="0">
                <a:solidFill>
                  <a:schemeClr val="bg2">
                    <a:lumMod val="25000"/>
                  </a:schemeClr>
                </a:solidFill>
                <a:latin typeface="Arial" pitchFamily="34" charset="0"/>
                <a:ea typeface="Arial" pitchFamily="34" charset="-122"/>
                <a:cs typeface="Arial" pitchFamily="34" charset="-120"/>
              </a:rPr>
              <a:t>38 فئة معتمدة </a:t>
            </a:r>
            <a:r>
              <a:rPr lang="ar-SA" altLang="en-US" sz="1300" b="1" dirty="0" smtClean="0">
                <a:solidFill>
                  <a:schemeClr val="bg2">
                    <a:lumMod val="25000"/>
                  </a:schemeClr>
                </a:solidFill>
                <a:latin typeface="Arial" pitchFamily="34" charset="0"/>
                <a:ea typeface="Arial" pitchFamily="34" charset="-122"/>
                <a:cs typeface="Arial" pitchFamily="34" charset="-120"/>
              </a:rPr>
              <a:t>(</a:t>
            </a:r>
            <a:r>
              <a:rPr lang="ar-SA" altLang="en-US" sz="1300" b="1" dirty="0" err="1" smtClean="0">
                <a:solidFill>
                  <a:schemeClr val="bg2">
                    <a:lumMod val="25000"/>
                  </a:schemeClr>
                </a:solidFill>
                <a:latin typeface="Arial" pitchFamily="34" charset="0"/>
                <a:ea typeface="Arial" pitchFamily="34" charset="-122"/>
                <a:cs typeface="Arial" pitchFamily="34" charset="-120"/>
              </a:rPr>
              <a:t>Classes</a:t>
            </a:r>
            <a:r>
              <a:rPr lang="ar-SA" altLang="en-US" sz="1300" b="1" dirty="0">
                <a:solidFill>
                  <a:schemeClr val="bg2">
                    <a:lumMod val="25000"/>
                  </a:schemeClr>
                </a:solidFill>
                <a:latin typeface="Arial" pitchFamily="34" charset="0"/>
                <a:ea typeface="Arial" pitchFamily="34" charset="-122"/>
                <a:cs typeface="Arial" pitchFamily="34" charset="-120"/>
              </a:rPr>
              <a:t>)</a:t>
            </a:r>
            <a:r>
              <a:rPr lang="ar-SA" altLang="en-US" sz="1300" dirty="0">
                <a:solidFill>
                  <a:schemeClr val="bg2">
                    <a:lumMod val="25000"/>
                  </a:schemeClr>
                </a:solidFill>
                <a:latin typeface="Arial" pitchFamily="34" charset="0"/>
                <a:ea typeface="Arial" pitchFamily="34" charset="-122"/>
                <a:cs typeface="Arial" pitchFamily="34" charset="-120"/>
              </a:rPr>
              <a:t> تغطي كامل الأبجدية الروسية القديمة.</a:t>
            </a:r>
            <a:endParaRPr lang="ar-SA" sz="1300" dirty="0">
              <a:solidFill>
                <a:schemeClr val="bg2">
                  <a:lumMod val="25000"/>
                </a:schemeClr>
              </a:solidFill>
            </a:endParaRPr>
          </a:p>
        </p:txBody>
      </p:sp>
      <p:pic>
        <p:nvPicPr>
          <p:cNvPr id="6" name="Image 1" descr="preencoded.png"/>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661475" y="3894038"/>
            <a:ext cx="5232666" cy="1321693"/>
          </a:xfrm>
          <a:prstGeom prst="rect">
            <a:avLst/>
          </a:prstGeom>
        </p:spPr>
      </p:pic>
      <p:sp>
        <p:nvSpPr>
          <p:cNvPr id="7" name="Text 3"/>
          <p:cNvSpPr/>
          <p:nvPr/>
        </p:nvSpPr>
        <p:spPr>
          <a:xfrm>
            <a:off x="845819" y="4078387"/>
            <a:ext cx="4787780"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البيانات الاصطناعية</a:t>
            </a:r>
            <a:endParaRPr lang="ar-SA" sz="1600" dirty="0"/>
          </a:p>
        </p:txBody>
      </p:sp>
      <p:sp>
        <p:nvSpPr>
          <p:cNvPr id="8" name="Text 4"/>
          <p:cNvSpPr/>
          <p:nvPr/>
        </p:nvSpPr>
        <p:spPr>
          <a:xfrm>
            <a:off x="845819" y="4502150"/>
            <a:ext cx="4787780" cy="529233"/>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chemeClr val="bg2">
                    <a:lumMod val="25000"/>
                  </a:schemeClr>
                </a:solidFill>
                <a:latin typeface="Arial" pitchFamily="34" charset="0"/>
                <a:ea typeface="Arial" pitchFamily="34" charset="-122"/>
                <a:cs typeface="Arial" pitchFamily="34" charset="-120"/>
              </a:rPr>
              <a:t>تم توليد نحو </a:t>
            </a:r>
            <a:r>
              <a:rPr lang="ar-SA" altLang="en-US" sz="1300" b="1" dirty="0">
                <a:solidFill>
                  <a:schemeClr val="bg2">
                    <a:lumMod val="25000"/>
                  </a:schemeClr>
                </a:solidFill>
                <a:latin typeface="Arial" pitchFamily="34" charset="0"/>
                <a:ea typeface="Arial" pitchFamily="34" charset="-122"/>
                <a:cs typeface="Arial" pitchFamily="34" charset="-120"/>
              </a:rPr>
              <a:t>19,000 صورة اصطناعية</a:t>
            </a:r>
            <a:r>
              <a:rPr lang="ar-SA" altLang="en-US" sz="1300" dirty="0">
                <a:solidFill>
                  <a:schemeClr val="bg2">
                    <a:lumMod val="25000"/>
                  </a:schemeClr>
                </a:solidFill>
                <a:latin typeface="Arial" pitchFamily="34" charset="0"/>
                <a:ea typeface="Arial" pitchFamily="34" charset="-122"/>
                <a:cs typeface="Arial" pitchFamily="34" charset="-120"/>
              </a:rPr>
              <a:t> لتعويض ندرة المخطوطات الحقيقية المصنفة وضمان تنوع كافٍ في بيانات التدريب.</a:t>
            </a:r>
            <a:endParaRPr lang="ar-SA" sz="1300" dirty="0">
              <a:solidFill>
                <a:schemeClr val="bg2">
                  <a:lumMod val="25000"/>
                </a:schemeClr>
              </a:solidFill>
            </a:endParaRPr>
          </a:p>
        </p:txBody>
      </p:sp>
      <p:sp>
        <p:nvSpPr>
          <p:cNvPr id="9" name="Text 5"/>
          <p:cNvSpPr/>
          <p:nvPr/>
        </p:nvSpPr>
        <p:spPr>
          <a:xfrm>
            <a:off x="6303904" y="2386310"/>
            <a:ext cx="5232666"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282824"/>
                </a:solidFill>
                <a:latin typeface="Arial" pitchFamily="34" charset="0"/>
                <a:ea typeface="Arial" pitchFamily="34" charset="-122"/>
                <a:cs typeface="Arial" pitchFamily="34" charset="-120"/>
              </a:rPr>
              <a:t>تنوع الصور الاصطناعية</a:t>
            </a:r>
            <a:endParaRPr lang="ar-SA" sz="1600" dirty="0"/>
          </a:p>
        </p:txBody>
      </p:sp>
      <p:sp>
        <p:nvSpPr>
          <p:cNvPr id="10" name="Shape 6"/>
          <p:cNvSpPr/>
          <p:nvPr/>
        </p:nvSpPr>
        <p:spPr>
          <a:xfrm>
            <a:off x="9002884" y="2830810"/>
            <a:ext cx="2533686" cy="1283593"/>
          </a:xfrm>
          <a:prstGeom prst="roundRect">
            <a:avLst>
              <a:gd name="adj" fmla="val 1933"/>
            </a:avLst>
          </a:prstGeom>
          <a:solidFill>
            <a:srgbClr val="E5DFD2"/>
          </a:solidFill>
          <a:ln/>
        </p:spPr>
      </p:sp>
      <p:sp>
        <p:nvSpPr>
          <p:cNvPr id="11" name="Text 7"/>
          <p:cNvSpPr/>
          <p:nvPr/>
        </p:nvSpPr>
        <p:spPr>
          <a:xfrm>
            <a:off x="9168178" y="2996109"/>
            <a:ext cx="2203097"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توزيع الحروف</a:t>
            </a:r>
            <a:endParaRPr lang="ar-SA" sz="1600" dirty="0"/>
          </a:p>
        </p:txBody>
      </p:sp>
      <p:sp>
        <p:nvSpPr>
          <p:cNvPr id="12" name="Text 8"/>
          <p:cNvSpPr/>
          <p:nvPr/>
        </p:nvSpPr>
        <p:spPr>
          <a:xfrm>
            <a:off x="9168178" y="3419872"/>
            <a:ext cx="2203097" cy="529233"/>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من 2 إلى 8 حروف موزعة عشوائياً في كل صورة</a:t>
            </a:r>
            <a:endParaRPr lang="ar-SA" sz="1300" dirty="0"/>
          </a:p>
        </p:txBody>
      </p:sp>
      <p:sp>
        <p:nvSpPr>
          <p:cNvPr id="13" name="Shape 9"/>
          <p:cNvSpPr/>
          <p:nvPr/>
        </p:nvSpPr>
        <p:spPr>
          <a:xfrm>
            <a:off x="6303904" y="2830810"/>
            <a:ext cx="2533686" cy="1283593"/>
          </a:xfrm>
          <a:prstGeom prst="roundRect">
            <a:avLst>
              <a:gd name="adj" fmla="val 1933"/>
            </a:avLst>
          </a:prstGeom>
          <a:solidFill>
            <a:srgbClr val="E5DFD2"/>
          </a:solidFill>
          <a:ln/>
        </p:spPr>
      </p:sp>
      <p:sp>
        <p:nvSpPr>
          <p:cNvPr id="14" name="Text 10"/>
          <p:cNvSpPr/>
          <p:nvPr/>
        </p:nvSpPr>
        <p:spPr>
          <a:xfrm>
            <a:off x="6469198" y="2996109"/>
            <a:ext cx="2203097"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تنويع الخصائص</a:t>
            </a:r>
            <a:endParaRPr lang="ar-SA" sz="1600" dirty="0"/>
          </a:p>
        </p:txBody>
      </p:sp>
      <p:sp>
        <p:nvSpPr>
          <p:cNvPr id="15" name="Text 11"/>
          <p:cNvSpPr/>
          <p:nvPr/>
        </p:nvSpPr>
        <p:spPr>
          <a:xfrm>
            <a:off x="6469198" y="3419872"/>
            <a:ext cx="2203097" cy="529233"/>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أحجام وأزوايا تدوير متعددة، سماكة وألوان حبر متنوعة، وخطوط مختلفة</a:t>
            </a:r>
            <a:endParaRPr lang="ar-SA"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067495"/>
            <a:ext cx="10868745" cy="516731"/>
          </a:xfrm>
          <a:prstGeom prst="rect">
            <a:avLst/>
          </a:prstGeom>
          <a:noFill/>
          <a:ln/>
        </p:spPr>
        <p:txBody>
          <a:bodyPr wrap="none" lIns="0" tIns="0" rIns="0" bIns="0" rtlCol="0" anchor="t"/>
          <a:lstStyle/>
          <a:p>
            <a:pPr marL="0" indent="0" algn="r" rtl="1">
              <a:lnSpc>
                <a:spcPct val="104000"/>
              </a:lnSpc>
              <a:buNone/>
            </a:pPr>
            <a:r>
              <a:rPr lang="ar-SA" altLang="en-US" sz="3250" b="1" dirty="0">
                <a:solidFill>
                  <a:srgbClr val="282824"/>
                </a:solidFill>
                <a:latin typeface="Arial" pitchFamily="34" charset="0"/>
                <a:ea typeface="Arial" pitchFamily="34" charset="-122"/>
                <a:cs typeface="Arial" pitchFamily="34" charset="-120"/>
              </a:rPr>
              <a:t>محاكاة المخطوطات وتقسيم البيانات الاصطناعية</a:t>
            </a:r>
            <a:endParaRPr lang="ar-SA" sz="3250" dirty="0"/>
          </a:p>
        </p:txBody>
      </p:sp>
      <p:sp>
        <p:nvSpPr>
          <p:cNvPr id="3" name="Text 1"/>
          <p:cNvSpPr/>
          <p:nvPr/>
        </p:nvSpPr>
        <p:spPr>
          <a:xfrm>
            <a:off x="661475" y="1997571"/>
            <a:ext cx="5232666"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282824"/>
                </a:solidFill>
                <a:latin typeface="Arial" pitchFamily="34" charset="0"/>
                <a:ea typeface="Arial" pitchFamily="34" charset="-122"/>
                <a:cs typeface="Arial" pitchFamily="34" charset="-120"/>
              </a:rPr>
              <a:t>توليد صناديق الإحاطة تلقائياً</a:t>
            </a:r>
            <a:endParaRPr lang="ar-SA" sz="1600" dirty="0"/>
          </a:p>
        </p:txBody>
      </p:sp>
      <p:sp>
        <p:nvSpPr>
          <p:cNvPr id="4" name="Text 2"/>
          <p:cNvSpPr/>
          <p:nvPr/>
        </p:nvSpPr>
        <p:spPr>
          <a:xfrm>
            <a:off x="661475" y="2421334"/>
            <a:ext cx="5232666" cy="529233"/>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اعتماد البكسلات الفعلية لكل حرف لحساب إحداثيات </a:t>
            </a:r>
            <a:r>
              <a:rPr lang="ar-SA" altLang="en-US" sz="1300" b="1" dirty="0">
                <a:solidFill>
                  <a:srgbClr val="4A4A45"/>
                </a:solidFill>
                <a:latin typeface="Lato Bold" pitchFamily="34" charset="0"/>
                <a:ea typeface="Lato Bold" pitchFamily="34" charset="-122"/>
                <a:cs typeface="Lato Bold" pitchFamily="34" charset="-120"/>
              </a:rPr>
              <a:t>Normalized Coordinates</a:t>
            </a:r>
            <a:r>
              <a:rPr lang="ar-SA" altLang="en-US" sz="1300" dirty="0">
                <a:solidFill>
                  <a:srgbClr val="4A4A45"/>
                </a:solidFill>
                <a:latin typeface="Arial" pitchFamily="34" charset="0"/>
                <a:ea typeface="Arial" pitchFamily="34" charset="-122"/>
                <a:cs typeface="Arial" pitchFamily="34" charset="-120"/>
              </a:rPr>
              <a:t> المتوافقة مع YOLO تلقائياً دون تدخل يدوي.</a:t>
            </a:r>
            <a:endParaRPr lang="ar-SA" sz="1300" dirty="0"/>
          </a:p>
        </p:txBody>
      </p:sp>
      <p:sp>
        <p:nvSpPr>
          <p:cNvPr id="5" name="Text 3"/>
          <p:cNvSpPr/>
          <p:nvPr/>
        </p:nvSpPr>
        <p:spPr>
          <a:xfrm>
            <a:off x="661475" y="3115866"/>
            <a:ext cx="5232666"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282824"/>
                </a:solidFill>
                <a:latin typeface="Arial" pitchFamily="34" charset="0"/>
                <a:ea typeface="Arial" pitchFamily="34" charset="-122"/>
                <a:cs typeface="Arial" pitchFamily="34" charset="-120"/>
              </a:rPr>
              <a:t>محاكاة خصائص المخطوطات القديمة</a:t>
            </a:r>
            <a:endParaRPr lang="ar-SA" sz="1600" dirty="0"/>
          </a:p>
        </p:txBody>
      </p:sp>
      <p:sp>
        <p:nvSpPr>
          <p:cNvPr id="6" name="Text 4"/>
          <p:cNvSpPr/>
          <p:nvPr/>
        </p:nvSpPr>
        <p:spPr>
          <a:xfrm>
            <a:off x="661475" y="3539629"/>
            <a:ext cx="5232666" cy="587077"/>
          </a:xfrm>
          <a:prstGeom prst="rect">
            <a:avLst/>
          </a:prstGeom>
          <a:noFill/>
          <a:ln/>
        </p:spPr>
        <p:txBody>
          <a:bodyPr wrap="square" lIns="0" tIns="0" rIns="66156" bIns="0" rtlCol="0" anchor="t">
            <a:normAutofit/>
          </a:bodyPr>
          <a:lstStyle/>
          <a:p>
            <a:pPr marL="264160" indent="-264160" algn="r" rtl="1">
              <a:lnSpc>
                <a:spcPct val="133000"/>
              </a:lnSpc>
              <a:buSzPct val="100000"/>
              <a:buChar char="•"/>
            </a:pPr>
            <a:r>
              <a:rPr lang="ar-SA" altLang="en-US" sz="1300" dirty="0">
                <a:solidFill>
                  <a:srgbClr val="4A4A45"/>
                </a:solidFill>
                <a:latin typeface="Arial" pitchFamily="34" charset="0"/>
                <a:ea typeface="Arial" pitchFamily="34" charset="-122"/>
                <a:cs typeface="Arial" pitchFamily="34" charset="-120"/>
              </a:rPr>
              <a:t>خلفيات تشبه الورق القديم، الجدران، والتدرجات اللونية</a:t>
            </a:r>
            <a:endParaRPr lang="ar-SA" sz="1300" dirty="0"/>
          </a:p>
          <a:p>
            <a:pPr marL="264160" indent="-264160" algn="r" rtl="1">
              <a:lnSpc>
                <a:spcPct val="133000"/>
              </a:lnSpc>
              <a:buSzPct val="100000"/>
              <a:buChar char="•"/>
            </a:pPr>
            <a:r>
              <a:rPr lang="ar-SA" altLang="en-US" sz="1300" dirty="0">
                <a:solidFill>
                  <a:srgbClr val="4A4A45"/>
                </a:solidFill>
                <a:latin typeface="Arial" pitchFamily="34" charset="0"/>
                <a:ea typeface="Arial" pitchFamily="34" charset="-122"/>
                <a:cs typeface="Arial" pitchFamily="34" charset="-120"/>
              </a:rPr>
              <a:t>تأثيرات واقعية: Gaussian Noise، البقع، الخدوش، والتنعيم (Blur)</a:t>
            </a:r>
            <a:endParaRPr lang="ar-SA" sz="1300" dirty="0"/>
          </a:p>
        </p:txBody>
      </p:sp>
      <p:sp>
        <p:nvSpPr>
          <p:cNvPr id="7" name="Shape 5"/>
          <p:cNvSpPr/>
          <p:nvPr/>
        </p:nvSpPr>
        <p:spPr>
          <a:xfrm>
            <a:off x="6184844" y="1832273"/>
            <a:ext cx="5470785" cy="3958233"/>
          </a:xfrm>
          <a:prstGeom prst="roundRect">
            <a:avLst>
              <a:gd name="adj" fmla="val 627"/>
            </a:avLst>
          </a:prstGeom>
          <a:gradFill flip="none" rotWithShape="1">
            <a:gsLst>
              <a:gs pos="0">
                <a:srgbClr val="996633">
                  <a:tint val="66000"/>
                  <a:satMod val="160000"/>
                </a:srgbClr>
              </a:gs>
              <a:gs pos="50000">
                <a:srgbClr val="996633">
                  <a:tint val="44500"/>
                  <a:satMod val="160000"/>
                </a:srgbClr>
              </a:gs>
              <a:gs pos="100000">
                <a:srgbClr val="996633">
                  <a:tint val="23500"/>
                  <a:satMod val="160000"/>
                </a:srgbClr>
              </a:gs>
            </a:gsLst>
            <a:lin ang="0" scaled="1"/>
            <a:tileRect/>
          </a:gradFill>
          <a:ln/>
        </p:spPr>
      </p:sp>
      <p:sp>
        <p:nvSpPr>
          <p:cNvPr id="8" name="Text 6"/>
          <p:cNvSpPr/>
          <p:nvPr/>
        </p:nvSpPr>
        <p:spPr>
          <a:xfrm>
            <a:off x="6350139" y="1997571"/>
            <a:ext cx="5140196"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282824"/>
                </a:solidFill>
                <a:latin typeface="Arial" pitchFamily="34" charset="0"/>
                <a:ea typeface="Arial" pitchFamily="34" charset="-122"/>
                <a:cs typeface="Arial" pitchFamily="34" charset="-120"/>
              </a:rPr>
              <a:t>تقسيم البيانات الاصطناعية</a:t>
            </a:r>
            <a:endParaRPr lang="ar-SA" sz="1600" dirty="0"/>
          </a:p>
        </p:txBody>
      </p:sp>
      <p:sp>
        <p:nvSpPr>
          <p:cNvPr id="9" name="Text 7"/>
          <p:cNvSpPr/>
          <p:nvPr/>
        </p:nvSpPr>
        <p:spPr>
          <a:xfrm>
            <a:off x="5740554" y="2421334"/>
            <a:ext cx="5749781" cy="264616"/>
          </a:xfrm>
          <a:prstGeom prst="rect">
            <a:avLst/>
          </a:prstGeom>
          <a:noFill/>
          <a:ln/>
        </p:spPr>
        <p:txBody>
          <a:bodyPr wrap="none" lIns="0" tIns="0" rIns="0" bIns="0" rtlCol="0" anchor="t"/>
          <a:lstStyle/>
          <a:p>
            <a:pPr marL="0" indent="0" algn="r" rtl="1">
              <a:lnSpc>
                <a:spcPct val="133000"/>
              </a:lnSpc>
              <a:buNone/>
            </a:pPr>
            <a:r>
              <a:rPr lang="ar-SA" altLang="en-US" sz="1300" b="1" dirty="0">
                <a:solidFill>
                  <a:srgbClr val="000000"/>
                </a:solidFill>
                <a:latin typeface="Arial" pitchFamily="34" charset="0"/>
                <a:ea typeface="Arial" pitchFamily="34" charset="-122"/>
                <a:cs typeface="Arial" pitchFamily="34" charset="-120"/>
              </a:rPr>
              <a:t>الإجمالي: 19,000 صورة</a:t>
            </a:r>
            <a:endParaRPr lang="ar-SA" sz="1300" dirty="0"/>
          </a:p>
        </p:txBody>
      </p:sp>
      <p:sp>
        <p:nvSpPr>
          <p:cNvPr id="10" name="Shape 8"/>
          <p:cNvSpPr/>
          <p:nvPr/>
        </p:nvSpPr>
        <p:spPr>
          <a:xfrm>
            <a:off x="9002884" y="2871986"/>
            <a:ext cx="2487451" cy="1283593"/>
          </a:xfrm>
          <a:prstGeom prst="roundRect">
            <a:avLst>
              <a:gd name="adj" fmla="val 1933"/>
            </a:avLst>
          </a:prstGeom>
          <a:solidFill>
            <a:srgbClr val="E5DFD2"/>
          </a:solidFill>
          <a:ln/>
        </p:spPr>
      </p:sp>
      <p:sp>
        <p:nvSpPr>
          <p:cNvPr id="11" name="Text 9"/>
          <p:cNvSpPr/>
          <p:nvPr/>
        </p:nvSpPr>
        <p:spPr>
          <a:xfrm>
            <a:off x="9168178" y="3037284"/>
            <a:ext cx="2156862" cy="258465"/>
          </a:xfrm>
          <a:prstGeom prst="rect">
            <a:avLst/>
          </a:prstGeom>
          <a:noFill/>
          <a:ln/>
        </p:spPr>
        <p:txBody>
          <a:bodyPr wrap="none" lIns="0" tIns="0" rIns="0" bIns="0" rtlCol="0" anchor="t"/>
          <a:lstStyle/>
          <a:p>
            <a:pPr marL="0" indent="0" algn="r" rtl="1">
              <a:lnSpc>
                <a:spcPct val="104000"/>
              </a:lnSpc>
              <a:buNone/>
            </a:pPr>
            <a:r>
              <a:rPr lang="en-US" sz="1600" b="1" dirty="0">
                <a:solidFill>
                  <a:srgbClr val="000000"/>
                </a:solidFill>
                <a:latin typeface="Lato Bold" pitchFamily="34" charset="0"/>
                <a:ea typeface="Lato Bold" pitchFamily="34" charset="-122"/>
                <a:cs typeface="Lato Bold" pitchFamily="34" charset="-120"/>
              </a:rPr>
              <a:t>70%</a:t>
            </a:r>
            <a:endParaRPr lang="en-US" sz="1600" dirty="0"/>
          </a:p>
        </p:txBody>
      </p:sp>
      <p:sp>
        <p:nvSpPr>
          <p:cNvPr id="12" name="Text 10"/>
          <p:cNvSpPr/>
          <p:nvPr/>
        </p:nvSpPr>
        <p:spPr>
          <a:xfrm>
            <a:off x="9168178" y="3461048"/>
            <a:ext cx="2156862" cy="529233"/>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000000"/>
                </a:solidFill>
                <a:latin typeface="Arial" pitchFamily="34" charset="0"/>
                <a:ea typeface="Arial" pitchFamily="34" charset="-122"/>
                <a:cs typeface="Arial" pitchFamily="34" charset="-120"/>
              </a:rPr>
              <a:t>التدريب</a:t>
            </a:r>
            <a:endParaRPr lang="ar-SA" sz="1300" dirty="0"/>
          </a:p>
          <a:p>
            <a:pPr marL="0" indent="0" algn="r" rtl="1">
              <a:lnSpc>
                <a:spcPct val="133000"/>
              </a:lnSpc>
              <a:buNone/>
            </a:pPr>
            <a:r>
              <a:rPr lang="ar-SA" altLang="en-US" sz="1300" dirty="0">
                <a:solidFill>
                  <a:srgbClr val="000000"/>
                </a:solidFill>
                <a:latin typeface="Arial" pitchFamily="34" charset="0"/>
                <a:ea typeface="Arial" pitchFamily="34" charset="-122"/>
                <a:cs typeface="Arial" pitchFamily="34" charset="-120"/>
              </a:rPr>
              <a:t>13,300 صورة</a:t>
            </a:r>
            <a:endParaRPr lang="ar-SA" sz="1300" dirty="0"/>
          </a:p>
        </p:txBody>
      </p:sp>
      <p:sp>
        <p:nvSpPr>
          <p:cNvPr id="13" name="Shape 11"/>
          <p:cNvSpPr/>
          <p:nvPr/>
        </p:nvSpPr>
        <p:spPr>
          <a:xfrm>
            <a:off x="6350139" y="2871986"/>
            <a:ext cx="2487451" cy="1283593"/>
          </a:xfrm>
          <a:prstGeom prst="roundRect">
            <a:avLst>
              <a:gd name="adj" fmla="val 1933"/>
            </a:avLst>
          </a:prstGeom>
          <a:solidFill>
            <a:srgbClr val="E5DFD2"/>
          </a:solidFill>
          <a:ln/>
        </p:spPr>
      </p:sp>
      <p:sp>
        <p:nvSpPr>
          <p:cNvPr id="14" name="Text 12"/>
          <p:cNvSpPr/>
          <p:nvPr/>
        </p:nvSpPr>
        <p:spPr>
          <a:xfrm>
            <a:off x="6515433" y="3037284"/>
            <a:ext cx="2156862" cy="258465"/>
          </a:xfrm>
          <a:prstGeom prst="rect">
            <a:avLst/>
          </a:prstGeom>
          <a:noFill/>
          <a:ln/>
        </p:spPr>
        <p:txBody>
          <a:bodyPr wrap="none" lIns="0" tIns="0" rIns="0" bIns="0" rtlCol="0" anchor="t"/>
          <a:lstStyle/>
          <a:p>
            <a:pPr marL="0" indent="0" algn="r" rtl="1">
              <a:lnSpc>
                <a:spcPct val="104000"/>
              </a:lnSpc>
              <a:buNone/>
            </a:pPr>
            <a:r>
              <a:rPr lang="en-US" sz="1600" b="1" dirty="0">
                <a:solidFill>
                  <a:srgbClr val="000000"/>
                </a:solidFill>
                <a:latin typeface="Lato Bold" pitchFamily="34" charset="0"/>
                <a:ea typeface="Lato Bold" pitchFamily="34" charset="-122"/>
                <a:cs typeface="Lato Bold" pitchFamily="34" charset="-120"/>
              </a:rPr>
              <a:t>20%</a:t>
            </a:r>
            <a:endParaRPr lang="en-US" sz="1600" dirty="0"/>
          </a:p>
        </p:txBody>
      </p:sp>
      <p:sp>
        <p:nvSpPr>
          <p:cNvPr id="15" name="Text 13"/>
          <p:cNvSpPr/>
          <p:nvPr/>
        </p:nvSpPr>
        <p:spPr>
          <a:xfrm>
            <a:off x="6515433" y="3461048"/>
            <a:ext cx="2156862" cy="529233"/>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000000"/>
                </a:solidFill>
                <a:latin typeface="Arial" pitchFamily="34" charset="0"/>
                <a:ea typeface="Arial" pitchFamily="34" charset="-122"/>
                <a:cs typeface="Arial" pitchFamily="34" charset="-120"/>
              </a:rPr>
              <a:t>التحقق</a:t>
            </a:r>
            <a:endParaRPr lang="ar-SA" sz="1300" dirty="0"/>
          </a:p>
          <a:p>
            <a:pPr marL="0" indent="0" algn="r" rtl="1">
              <a:lnSpc>
                <a:spcPct val="133000"/>
              </a:lnSpc>
              <a:buNone/>
            </a:pPr>
            <a:r>
              <a:rPr lang="ar-SA" altLang="en-US" sz="1300" dirty="0">
                <a:solidFill>
                  <a:srgbClr val="000000"/>
                </a:solidFill>
                <a:latin typeface="Arial" pitchFamily="34" charset="0"/>
                <a:ea typeface="Arial" pitchFamily="34" charset="-122"/>
                <a:cs typeface="Arial" pitchFamily="34" charset="-120"/>
              </a:rPr>
              <a:t>3,800 صورة</a:t>
            </a:r>
            <a:endParaRPr lang="ar-SA" sz="1300" dirty="0"/>
          </a:p>
        </p:txBody>
      </p:sp>
      <p:sp>
        <p:nvSpPr>
          <p:cNvPr id="16" name="Shape 14"/>
          <p:cNvSpPr/>
          <p:nvPr/>
        </p:nvSpPr>
        <p:spPr>
          <a:xfrm>
            <a:off x="6350139" y="4320877"/>
            <a:ext cx="5140196" cy="1283593"/>
          </a:xfrm>
          <a:prstGeom prst="roundRect">
            <a:avLst>
              <a:gd name="adj" fmla="val 1933"/>
            </a:avLst>
          </a:prstGeom>
          <a:solidFill>
            <a:srgbClr val="E5DFD2"/>
          </a:solidFill>
          <a:ln/>
        </p:spPr>
      </p:sp>
      <p:sp>
        <p:nvSpPr>
          <p:cNvPr id="17" name="Text 15"/>
          <p:cNvSpPr/>
          <p:nvPr/>
        </p:nvSpPr>
        <p:spPr>
          <a:xfrm>
            <a:off x="6515433" y="4486176"/>
            <a:ext cx="4809608" cy="258465"/>
          </a:xfrm>
          <a:prstGeom prst="rect">
            <a:avLst/>
          </a:prstGeom>
          <a:noFill/>
          <a:ln/>
        </p:spPr>
        <p:txBody>
          <a:bodyPr wrap="none" lIns="0" tIns="0" rIns="0" bIns="0" rtlCol="0" anchor="t"/>
          <a:lstStyle/>
          <a:p>
            <a:pPr marL="0" indent="0" algn="r" rtl="1">
              <a:lnSpc>
                <a:spcPct val="104000"/>
              </a:lnSpc>
              <a:buNone/>
            </a:pPr>
            <a:r>
              <a:rPr lang="en-US" sz="1600" b="1" dirty="0">
                <a:solidFill>
                  <a:srgbClr val="000000"/>
                </a:solidFill>
                <a:latin typeface="Lato Bold" pitchFamily="34" charset="0"/>
                <a:ea typeface="Lato Bold" pitchFamily="34" charset="-122"/>
                <a:cs typeface="Lato Bold" pitchFamily="34" charset="-120"/>
              </a:rPr>
              <a:t>10%</a:t>
            </a:r>
            <a:endParaRPr lang="en-US" sz="1600" dirty="0"/>
          </a:p>
        </p:txBody>
      </p:sp>
      <p:sp>
        <p:nvSpPr>
          <p:cNvPr id="18" name="Text 16"/>
          <p:cNvSpPr/>
          <p:nvPr/>
        </p:nvSpPr>
        <p:spPr>
          <a:xfrm>
            <a:off x="6515433" y="4909939"/>
            <a:ext cx="4809608" cy="529233"/>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000000"/>
                </a:solidFill>
                <a:latin typeface="Arial" pitchFamily="34" charset="0"/>
                <a:ea typeface="Arial" pitchFamily="34" charset="-122"/>
                <a:cs typeface="Arial" pitchFamily="34" charset="-120"/>
              </a:rPr>
              <a:t>الاختبار</a:t>
            </a:r>
            <a:endParaRPr lang="ar-SA" sz="1300" dirty="0"/>
          </a:p>
          <a:p>
            <a:pPr marL="0" indent="0" algn="r" rtl="1">
              <a:lnSpc>
                <a:spcPct val="133000"/>
              </a:lnSpc>
              <a:buNone/>
            </a:pPr>
            <a:r>
              <a:rPr lang="ar-SA" altLang="en-US" sz="1300" dirty="0">
                <a:solidFill>
                  <a:srgbClr val="000000"/>
                </a:solidFill>
                <a:latin typeface="Arial" pitchFamily="34" charset="0"/>
                <a:ea typeface="Arial" pitchFamily="34" charset="-122"/>
                <a:cs typeface="Arial" pitchFamily="34" charset="-120"/>
              </a:rPr>
              <a:t>1,900 صورة</a:t>
            </a:r>
            <a:endParaRPr lang="ar-SA" sz="13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139553"/>
            <a:ext cx="10868745" cy="516731"/>
          </a:xfrm>
          <a:prstGeom prst="rect">
            <a:avLst/>
          </a:prstGeom>
          <a:noFill/>
          <a:ln/>
        </p:spPr>
        <p:txBody>
          <a:bodyPr wrap="none" lIns="0" tIns="0" rIns="0" bIns="0" rtlCol="0" anchor="t"/>
          <a:lstStyle/>
          <a:p>
            <a:pPr marL="0" indent="0" algn="r" rtl="1">
              <a:lnSpc>
                <a:spcPct val="104000"/>
              </a:lnSpc>
              <a:buNone/>
            </a:pPr>
            <a:r>
              <a:rPr lang="ar-SA" altLang="en-US" sz="3250" b="1" dirty="0">
                <a:solidFill>
                  <a:srgbClr val="282824"/>
                </a:solidFill>
                <a:latin typeface="Arial" pitchFamily="34" charset="0"/>
                <a:ea typeface="Arial" pitchFamily="34" charset="-122"/>
                <a:cs typeface="Arial" pitchFamily="34" charset="-120"/>
              </a:rPr>
              <a:t>التسريع والتدريب الأولي (Pre-training)</a:t>
            </a:r>
            <a:endParaRPr lang="ar-SA" sz="3250" dirty="0"/>
          </a:p>
        </p:txBody>
      </p:sp>
      <p:sp>
        <p:nvSpPr>
          <p:cNvPr id="3" name="Shape 1"/>
          <p:cNvSpPr/>
          <p:nvPr/>
        </p:nvSpPr>
        <p:spPr>
          <a:xfrm>
            <a:off x="11158159" y="2986980"/>
            <a:ext cx="372061" cy="372070"/>
          </a:xfrm>
          <a:prstGeom prst="roundRect">
            <a:avLst>
              <a:gd name="adj" fmla="val 6668"/>
            </a:avLst>
          </a:prstGeom>
          <a:solidFill>
            <a:srgbClr val="E5DFD2"/>
          </a:solidFill>
          <a:ln/>
        </p:spPr>
      </p:sp>
      <p:sp>
        <p:nvSpPr>
          <p:cNvPr id="4" name="Text 2"/>
          <p:cNvSpPr/>
          <p:nvPr/>
        </p:nvSpPr>
        <p:spPr>
          <a:xfrm>
            <a:off x="11220169" y="3017986"/>
            <a:ext cx="248041" cy="310059"/>
          </a:xfrm>
          <a:prstGeom prst="rect">
            <a:avLst/>
          </a:prstGeom>
          <a:noFill/>
          <a:ln/>
        </p:spPr>
        <p:txBody>
          <a:bodyPr wrap="none" lIns="0" tIns="0" rIns="0" bIns="0" rtlCol="0" anchor="ctr"/>
          <a:lstStyle/>
          <a:p>
            <a:pPr marL="0" indent="0" algn="ctr" rtl="1">
              <a:lnSpc>
                <a:spcPct val="100000"/>
              </a:lnSpc>
              <a:buNone/>
            </a:pPr>
            <a:r>
              <a:rPr lang="en-US" sz="1950" b="1" dirty="0">
                <a:solidFill>
                  <a:srgbClr val="4A4A45"/>
                </a:solidFill>
                <a:latin typeface="Lato Bold" pitchFamily="34" charset="0"/>
                <a:ea typeface="Lato Bold" pitchFamily="34" charset="-122"/>
                <a:cs typeface="Lato Bold" pitchFamily="34" charset="-120"/>
              </a:rPr>
              <a:t>1</a:t>
            </a:r>
            <a:endParaRPr lang="en-US" sz="1950" dirty="0"/>
          </a:p>
        </p:txBody>
      </p:sp>
      <p:sp>
        <p:nvSpPr>
          <p:cNvPr id="5" name="Text 3"/>
          <p:cNvSpPr/>
          <p:nvPr/>
        </p:nvSpPr>
        <p:spPr>
          <a:xfrm>
            <a:off x="8045150" y="3043833"/>
            <a:ext cx="2947715" cy="516930"/>
          </a:xfrm>
          <a:prstGeom prst="rect">
            <a:avLst/>
          </a:prstGeom>
          <a:noFill/>
          <a:ln/>
        </p:spPr>
        <p:txBody>
          <a:bodyPr wrap="square" lIns="0" tIns="0" rIns="0" bIns="0" rtlCol="0" anchor="t">
            <a:normAutofit/>
          </a:bodyPr>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تسريع التدريب عبر الذاكرة المؤقتة (RAM Disk)</a:t>
            </a:r>
            <a:endParaRPr lang="ar-SA" sz="1600" dirty="0"/>
          </a:p>
        </p:txBody>
      </p:sp>
      <p:sp>
        <p:nvSpPr>
          <p:cNvPr id="6" name="Text 4"/>
          <p:cNvSpPr/>
          <p:nvPr/>
        </p:nvSpPr>
        <p:spPr>
          <a:xfrm>
            <a:off x="8045150" y="3659981"/>
            <a:ext cx="2947715" cy="1058466"/>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نقل البيانات إلى المسار </a:t>
            </a:r>
            <a:r>
              <a:rPr lang="ar-SA" altLang="en-US" sz="1300" dirty="0">
                <a:solidFill>
                  <a:srgbClr val="4A4A45"/>
                </a:solidFill>
                <a:highlight>
                  <a:srgbClr val="E2DFD9"/>
                </a:highlight>
                <a:latin typeface="Consolas" pitchFamily="34" charset="0"/>
                <a:ea typeface="Consolas" pitchFamily="34" charset="-122"/>
                <a:cs typeface="Consolas" pitchFamily="34" charset="-120"/>
              </a:rPr>
              <a:t>/dev/shm</a:t>
            </a:r>
            <a:r>
              <a:rPr lang="ar-SA" altLang="en-US" sz="1300" dirty="0">
                <a:solidFill>
                  <a:srgbClr val="4A4A45"/>
                </a:solidFill>
                <a:latin typeface="Arial" pitchFamily="34" charset="0"/>
                <a:ea typeface="Arial" pitchFamily="34" charset="-122"/>
                <a:cs typeface="Arial" pitchFamily="34" charset="-120"/>
              </a:rPr>
              <a:t> لتقليل زمن الوصول للملفات وتفادي بطء التخزين على Google Drive، مما يُسرّع دورة التدريب بشكل ملحوظ.</a:t>
            </a:r>
            <a:endParaRPr lang="ar-SA" sz="1300" dirty="0"/>
          </a:p>
        </p:txBody>
      </p:sp>
      <p:sp>
        <p:nvSpPr>
          <p:cNvPr id="7" name="Shape 5"/>
          <p:cNvSpPr/>
          <p:nvPr/>
        </p:nvSpPr>
        <p:spPr>
          <a:xfrm>
            <a:off x="7466421" y="2986980"/>
            <a:ext cx="372061" cy="372070"/>
          </a:xfrm>
          <a:prstGeom prst="roundRect">
            <a:avLst>
              <a:gd name="adj" fmla="val 6668"/>
            </a:avLst>
          </a:prstGeom>
          <a:solidFill>
            <a:srgbClr val="E5DFD2"/>
          </a:solidFill>
          <a:ln/>
        </p:spPr>
      </p:sp>
      <p:sp>
        <p:nvSpPr>
          <p:cNvPr id="8" name="Text 6"/>
          <p:cNvSpPr/>
          <p:nvPr/>
        </p:nvSpPr>
        <p:spPr>
          <a:xfrm>
            <a:off x="7528431" y="3017986"/>
            <a:ext cx="248041" cy="310059"/>
          </a:xfrm>
          <a:prstGeom prst="rect">
            <a:avLst/>
          </a:prstGeom>
          <a:noFill/>
          <a:ln/>
        </p:spPr>
        <p:txBody>
          <a:bodyPr wrap="none" lIns="0" tIns="0" rIns="0" bIns="0" rtlCol="0" anchor="ctr"/>
          <a:lstStyle/>
          <a:p>
            <a:pPr marL="0" indent="0" algn="ctr" rtl="1">
              <a:lnSpc>
                <a:spcPct val="100000"/>
              </a:lnSpc>
              <a:buNone/>
            </a:pPr>
            <a:r>
              <a:rPr lang="en-US" sz="1950" b="1" dirty="0">
                <a:solidFill>
                  <a:srgbClr val="4A4A45"/>
                </a:solidFill>
                <a:latin typeface="Lato Bold" pitchFamily="34" charset="0"/>
                <a:ea typeface="Lato Bold" pitchFamily="34" charset="-122"/>
                <a:cs typeface="Lato Bold" pitchFamily="34" charset="-120"/>
              </a:rPr>
              <a:t>2</a:t>
            </a:r>
            <a:endParaRPr lang="en-US" sz="1950" dirty="0"/>
          </a:p>
        </p:txBody>
      </p:sp>
      <p:sp>
        <p:nvSpPr>
          <p:cNvPr id="9" name="Text 7"/>
          <p:cNvSpPr/>
          <p:nvPr/>
        </p:nvSpPr>
        <p:spPr>
          <a:xfrm>
            <a:off x="4353312" y="3043833"/>
            <a:ext cx="2947815"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التدريب الأولي (Pre-training)</a:t>
            </a:r>
            <a:endParaRPr lang="ar-SA" sz="1600" dirty="0"/>
          </a:p>
        </p:txBody>
      </p:sp>
      <p:sp>
        <p:nvSpPr>
          <p:cNvPr id="10" name="Text 8"/>
          <p:cNvSpPr/>
          <p:nvPr/>
        </p:nvSpPr>
        <p:spPr>
          <a:xfrm>
            <a:off x="4353312" y="3401516"/>
            <a:ext cx="2947815" cy="1058466"/>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الاعتماد على نموذج </a:t>
            </a:r>
            <a:r>
              <a:rPr lang="ar-SA" altLang="en-US" sz="1300" b="1" dirty="0">
                <a:solidFill>
                  <a:srgbClr val="4A4A45"/>
                </a:solidFill>
                <a:latin typeface="Lato Bold" pitchFamily="34" charset="0"/>
                <a:ea typeface="Lato Bold" pitchFamily="34" charset="-122"/>
                <a:cs typeface="Lato Bold" pitchFamily="34" charset="-120"/>
              </a:rPr>
              <a:t>YOLOv8n</a:t>
            </a:r>
            <a:r>
              <a:rPr lang="ar-SA" altLang="en-US" sz="1300" dirty="0">
                <a:solidFill>
                  <a:srgbClr val="4A4A45"/>
                </a:solidFill>
                <a:latin typeface="Arial" pitchFamily="34" charset="0"/>
                <a:ea typeface="Arial" pitchFamily="34" charset="-122"/>
                <a:cs typeface="Arial" pitchFamily="34" charset="-120"/>
              </a:rPr>
              <a:t> مع تحميل الأوزان الأولية </a:t>
            </a:r>
            <a:r>
              <a:rPr lang="ar-SA" altLang="en-US" sz="1300" dirty="0">
                <a:solidFill>
                  <a:srgbClr val="4A4A45"/>
                </a:solidFill>
                <a:highlight>
                  <a:srgbClr val="E2DFD9"/>
                </a:highlight>
                <a:latin typeface="Consolas" pitchFamily="34" charset="0"/>
                <a:ea typeface="Consolas" pitchFamily="34" charset="-122"/>
                <a:cs typeface="Consolas" pitchFamily="34" charset="-120"/>
              </a:rPr>
              <a:t>yolov8n.pt</a:t>
            </a:r>
            <a:r>
              <a:rPr lang="ar-SA" altLang="en-US" sz="1300" dirty="0">
                <a:solidFill>
                  <a:srgbClr val="4A4A45"/>
                </a:solidFill>
                <a:latin typeface="Arial" pitchFamily="34" charset="0"/>
                <a:ea typeface="Arial" pitchFamily="34" charset="-122"/>
                <a:cs typeface="Arial" pitchFamily="34" charset="-120"/>
              </a:rPr>
              <a:t>، واستخدام تقنيات تسريع مثل الدقة المختلطة </a:t>
            </a:r>
            <a:r>
              <a:rPr lang="ar-SA" altLang="en-US" sz="1300" b="1" dirty="0">
                <a:solidFill>
                  <a:srgbClr val="4A4A45"/>
                </a:solidFill>
                <a:latin typeface="Lato Bold" pitchFamily="34" charset="0"/>
                <a:ea typeface="Lato Bold" pitchFamily="34" charset="-122"/>
                <a:cs typeface="Lato Bold" pitchFamily="34" charset="-120"/>
              </a:rPr>
              <a:t>(AMP)</a:t>
            </a:r>
            <a:r>
              <a:rPr lang="ar-SA" altLang="en-US" sz="1300" dirty="0">
                <a:solidFill>
                  <a:srgbClr val="4A4A45"/>
                </a:solidFill>
                <a:latin typeface="Arial" pitchFamily="34" charset="0"/>
                <a:ea typeface="Arial" pitchFamily="34" charset="-122"/>
                <a:cs typeface="Arial" pitchFamily="34" charset="-120"/>
              </a:rPr>
              <a:t> والـ Cache مع تفعيل الـ GPU.</a:t>
            </a:r>
            <a:endParaRPr lang="ar-SA" sz="1300" dirty="0"/>
          </a:p>
        </p:txBody>
      </p:sp>
      <p:sp>
        <p:nvSpPr>
          <p:cNvPr id="11" name="Shape 9"/>
          <p:cNvSpPr/>
          <p:nvPr/>
        </p:nvSpPr>
        <p:spPr>
          <a:xfrm>
            <a:off x="3774584" y="2986980"/>
            <a:ext cx="372061" cy="372070"/>
          </a:xfrm>
          <a:prstGeom prst="roundRect">
            <a:avLst>
              <a:gd name="adj" fmla="val 6668"/>
            </a:avLst>
          </a:prstGeom>
          <a:solidFill>
            <a:srgbClr val="E5DFD2"/>
          </a:solidFill>
          <a:ln/>
        </p:spPr>
      </p:sp>
      <p:sp>
        <p:nvSpPr>
          <p:cNvPr id="12" name="Text 10"/>
          <p:cNvSpPr/>
          <p:nvPr/>
        </p:nvSpPr>
        <p:spPr>
          <a:xfrm>
            <a:off x="3836594" y="3017986"/>
            <a:ext cx="248041" cy="310059"/>
          </a:xfrm>
          <a:prstGeom prst="rect">
            <a:avLst/>
          </a:prstGeom>
          <a:noFill/>
          <a:ln/>
        </p:spPr>
        <p:txBody>
          <a:bodyPr wrap="none" lIns="0" tIns="0" rIns="0" bIns="0" rtlCol="0" anchor="ctr"/>
          <a:lstStyle/>
          <a:p>
            <a:pPr marL="0" indent="0" algn="ctr" rtl="1">
              <a:lnSpc>
                <a:spcPct val="100000"/>
              </a:lnSpc>
              <a:buNone/>
            </a:pPr>
            <a:r>
              <a:rPr lang="en-US" sz="1950" b="1" dirty="0">
                <a:solidFill>
                  <a:srgbClr val="4A4A45"/>
                </a:solidFill>
                <a:latin typeface="Lato Bold" pitchFamily="34" charset="0"/>
                <a:ea typeface="Lato Bold" pitchFamily="34" charset="-122"/>
                <a:cs typeface="Lato Bold" pitchFamily="34" charset="-120"/>
              </a:rPr>
              <a:t>3</a:t>
            </a:r>
            <a:endParaRPr lang="en-US" sz="1950" dirty="0"/>
          </a:p>
        </p:txBody>
      </p:sp>
      <p:sp>
        <p:nvSpPr>
          <p:cNvPr id="13" name="Text 11"/>
          <p:cNvSpPr/>
          <p:nvPr/>
        </p:nvSpPr>
        <p:spPr>
          <a:xfrm>
            <a:off x="661475" y="3043833"/>
            <a:ext cx="2947815"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الهدف من مرحلة Pre-training</a:t>
            </a:r>
            <a:endParaRPr lang="ar-SA" sz="1600" dirty="0"/>
          </a:p>
        </p:txBody>
      </p:sp>
      <p:sp>
        <p:nvSpPr>
          <p:cNvPr id="14" name="Text 12"/>
          <p:cNvSpPr/>
          <p:nvPr/>
        </p:nvSpPr>
        <p:spPr>
          <a:xfrm>
            <a:off x="661475" y="3401516"/>
            <a:ext cx="2947815" cy="1058466"/>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إكساب النموذج المهارة الأساسية للتعرف على أشكال الأبجدية المختلفة قبل الانتقال للصور الحقيقية، مما يُقلل وقت التقارب في مراحل لاحقة.</a:t>
            </a:r>
            <a:endParaRPr lang="ar-SA" sz="13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518319"/>
            <a:ext cx="10868745" cy="484485"/>
          </a:xfrm>
          <a:prstGeom prst="rect">
            <a:avLst/>
          </a:prstGeom>
          <a:noFill/>
          <a:ln/>
        </p:spPr>
        <p:txBody>
          <a:bodyPr wrap="none" lIns="0" tIns="0" rIns="0" bIns="0" rtlCol="0" anchor="t"/>
          <a:lstStyle/>
          <a:p>
            <a:pPr marL="0" indent="0" algn="r" rtl="1">
              <a:lnSpc>
                <a:spcPct val="104000"/>
              </a:lnSpc>
              <a:buNone/>
            </a:pPr>
            <a:r>
              <a:rPr lang="ar-SA" altLang="en-US" sz="3050" b="1" dirty="0">
                <a:solidFill>
                  <a:srgbClr val="282824"/>
                </a:solidFill>
                <a:latin typeface="Arial" pitchFamily="34" charset="0"/>
                <a:ea typeface="Arial" pitchFamily="34" charset="-122"/>
                <a:cs typeface="Arial" pitchFamily="34" charset="-120"/>
              </a:rPr>
              <a:t>البيانات الحقيقية والمعالجة المسبقة للصور</a:t>
            </a:r>
            <a:endParaRPr lang="ar-SA" sz="3050" dirty="0"/>
          </a:p>
        </p:txBody>
      </p:sp>
      <p:sp>
        <p:nvSpPr>
          <p:cNvPr id="3" name="Text 1"/>
          <p:cNvSpPr/>
          <p:nvPr/>
        </p:nvSpPr>
        <p:spPr>
          <a:xfrm>
            <a:off x="661475" y="1461790"/>
            <a:ext cx="5245266" cy="511671"/>
          </a:xfrm>
          <a:prstGeom prst="rect">
            <a:avLst/>
          </a:prstGeom>
          <a:noFill/>
          <a:ln/>
        </p:spPr>
        <p:txBody>
          <a:bodyPr wrap="none" lIns="0" tIns="0" rIns="0" bIns="0" rtlCol="0" anchor="t"/>
          <a:lstStyle/>
          <a:p>
            <a:pPr marL="0" indent="0" algn="ctr" rtl="1">
              <a:lnSpc>
                <a:spcPct val="83000"/>
              </a:lnSpc>
              <a:buNone/>
            </a:pPr>
            <a:r>
              <a:rPr lang="en-US" sz="4000" b="1" dirty="0">
                <a:solidFill>
                  <a:srgbClr val="4A4A45"/>
                </a:solidFill>
                <a:latin typeface="Lato Bold" pitchFamily="34" charset="0"/>
                <a:ea typeface="Lato Bold" pitchFamily="34" charset="-122"/>
                <a:cs typeface="Lato Bold" pitchFamily="34" charset="-120"/>
              </a:rPr>
              <a:t>223</a:t>
            </a:r>
            <a:endParaRPr lang="en-US" sz="4000" dirty="0"/>
          </a:p>
        </p:txBody>
      </p:sp>
      <p:sp>
        <p:nvSpPr>
          <p:cNvPr id="4" name="Text 2"/>
          <p:cNvSpPr/>
          <p:nvPr/>
        </p:nvSpPr>
        <p:spPr>
          <a:xfrm>
            <a:off x="661475" y="2159893"/>
            <a:ext cx="5245266" cy="242193"/>
          </a:xfrm>
          <a:prstGeom prst="rect">
            <a:avLst/>
          </a:prstGeom>
          <a:noFill/>
          <a:ln/>
        </p:spPr>
        <p:txBody>
          <a:bodyPr wrap="none" lIns="0" tIns="0" rIns="0" bIns="0" rtlCol="0" anchor="t"/>
          <a:lstStyle/>
          <a:p>
            <a:pPr marL="0" indent="0" algn="ctr" rtl="1">
              <a:lnSpc>
                <a:spcPct val="104000"/>
              </a:lnSpc>
              <a:buNone/>
            </a:pPr>
            <a:r>
              <a:rPr lang="ar-SA" altLang="en-US" sz="1500" b="1" dirty="0">
                <a:solidFill>
                  <a:srgbClr val="4A4A45"/>
                </a:solidFill>
                <a:latin typeface="Arial" pitchFamily="34" charset="0"/>
                <a:ea typeface="Arial" pitchFamily="34" charset="-122"/>
                <a:cs typeface="Arial" pitchFamily="34" charset="-120"/>
              </a:rPr>
              <a:t>صورة حقيقية</a:t>
            </a:r>
            <a:endParaRPr lang="ar-SA" sz="1500" dirty="0"/>
          </a:p>
        </p:txBody>
      </p:sp>
      <p:sp>
        <p:nvSpPr>
          <p:cNvPr id="5" name="Text 3"/>
          <p:cNvSpPr/>
          <p:nvPr/>
        </p:nvSpPr>
        <p:spPr>
          <a:xfrm>
            <a:off x="661475" y="2547441"/>
            <a:ext cx="5245266" cy="240308"/>
          </a:xfrm>
          <a:prstGeom prst="rect">
            <a:avLst/>
          </a:prstGeom>
          <a:noFill/>
          <a:ln/>
        </p:spPr>
        <p:txBody>
          <a:bodyPr wrap="none" lIns="0" tIns="0" rIns="0" bIns="0" rtlCol="0" anchor="t"/>
          <a:lstStyle/>
          <a:p>
            <a:pPr marL="0" indent="0" algn="ctr" rtl="1">
              <a:lnSpc>
                <a:spcPct val="129000"/>
              </a:lnSpc>
              <a:buNone/>
            </a:pPr>
            <a:r>
              <a:rPr lang="ar-SA" altLang="en-US" sz="1200" dirty="0">
                <a:solidFill>
                  <a:srgbClr val="4A4A45"/>
                </a:solidFill>
                <a:latin typeface="Arial" pitchFamily="34" charset="0"/>
                <a:ea typeface="Arial" pitchFamily="34" charset="-122"/>
                <a:cs typeface="Arial" pitchFamily="34" charset="-120"/>
              </a:rPr>
              <a:t>تم جمعها وتوسيم حروفها يدوياً باستخدام أداة Labelbox</a:t>
            </a:r>
            <a:endParaRPr lang="ar-SA" sz="1200" dirty="0"/>
          </a:p>
        </p:txBody>
      </p:sp>
      <p:sp>
        <p:nvSpPr>
          <p:cNvPr id="6" name="Text 4"/>
          <p:cNvSpPr/>
          <p:nvPr/>
        </p:nvSpPr>
        <p:spPr>
          <a:xfrm>
            <a:off x="661475" y="3155950"/>
            <a:ext cx="5245266" cy="511671"/>
          </a:xfrm>
          <a:prstGeom prst="rect">
            <a:avLst/>
          </a:prstGeom>
          <a:noFill/>
          <a:ln/>
        </p:spPr>
        <p:txBody>
          <a:bodyPr wrap="none" lIns="0" tIns="0" rIns="0" bIns="0" rtlCol="0" anchor="t"/>
          <a:lstStyle/>
          <a:p>
            <a:pPr marL="0" indent="0" algn="ctr" rtl="1">
              <a:lnSpc>
                <a:spcPct val="83000"/>
              </a:lnSpc>
              <a:buNone/>
            </a:pPr>
            <a:r>
              <a:rPr lang="en-US" sz="4000" b="1" dirty="0">
                <a:solidFill>
                  <a:srgbClr val="4A4A45"/>
                </a:solidFill>
                <a:latin typeface="Lato Bold" pitchFamily="34" charset="0"/>
                <a:ea typeface="Lato Bold" pitchFamily="34" charset="-122"/>
                <a:cs typeface="Lato Bold" pitchFamily="34" charset="-120"/>
              </a:rPr>
              <a:t>85%</a:t>
            </a:r>
            <a:endParaRPr lang="en-US" sz="4000" dirty="0"/>
          </a:p>
        </p:txBody>
      </p:sp>
      <p:sp>
        <p:nvSpPr>
          <p:cNvPr id="7" name="Text 5"/>
          <p:cNvSpPr/>
          <p:nvPr/>
        </p:nvSpPr>
        <p:spPr>
          <a:xfrm>
            <a:off x="661475" y="3854053"/>
            <a:ext cx="5245266" cy="242193"/>
          </a:xfrm>
          <a:prstGeom prst="rect">
            <a:avLst/>
          </a:prstGeom>
          <a:noFill/>
          <a:ln/>
        </p:spPr>
        <p:txBody>
          <a:bodyPr wrap="none" lIns="0" tIns="0" rIns="0" bIns="0" rtlCol="0" anchor="t"/>
          <a:lstStyle/>
          <a:p>
            <a:pPr marL="0" indent="0" algn="ctr" rtl="1">
              <a:lnSpc>
                <a:spcPct val="104000"/>
              </a:lnSpc>
              <a:buNone/>
            </a:pPr>
            <a:r>
              <a:rPr lang="ar-SA" altLang="en-US" sz="1500" b="1" dirty="0">
                <a:solidFill>
                  <a:srgbClr val="4A4A45"/>
                </a:solidFill>
                <a:latin typeface="Arial" pitchFamily="34" charset="0"/>
                <a:ea typeface="Arial" pitchFamily="34" charset="-122"/>
                <a:cs typeface="Arial" pitchFamily="34" charset="-120"/>
              </a:rPr>
              <a:t>للتدريب</a:t>
            </a:r>
            <a:endParaRPr lang="ar-SA" sz="1500" dirty="0"/>
          </a:p>
        </p:txBody>
      </p:sp>
      <p:sp>
        <p:nvSpPr>
          <p:cNvPr id="8" name="Text 6"/>
          <p:cNvSpPr/>
          <p:nvPr/>
        </p:nvSpPr>
        <p:spPr>
          <a:xfrm>
            <a:off x="661475" y="4241602"/>
            <a:ext cx="5245266" cy="240308"/>
          </a:xfrm>
          <a:prstGeom prst="rect">
            <a:avLst/>
          </a:prstGeom>
          <a:noFill/>
          <a:ln/>
        </p:spPr>
        <p:txBody>
          <a:bodyPr wrap="none" lIns="0" tIns="0" rIns="0" bIns="0" rtlCol="0" anchor="t"/>
          <a:lstStyle/>
          <a:p>
            <a:pPr marL="0" indent="0" algn="ctr" rtl="1">
              <a:lnSpc>
                <a:spcPct val="129000"/>
              </a:lnSpc>
              <a:buNone/>
            </a:pPr>
            <a:r>
              <a:rPr lang="ar-SA" altLang="en-US" sz="1200" dirty="0">
                <a:solidFill>
                  <a:srgbClr val="4A4A45"/>
                </a:solidFill>
                <a:latin typeface="Arial" pitchFamily="34" charset="0"/>
                <a:ea typeface="Arial" pitchFamily="34" charset="-122"/>
                <a:cs typeface="Arial" pitchFamily="34" charset="-120"/>
              </a:rPr>
              <a:t>من إجمالي البيانات الحقيقية</a:t>
            </a:r>
            <a:endParaRPr lang="ar-SA" sz="1200" dirty="0"/>
          </a:p>
        </p:txBody>
      </p:sp>
      <p:sp>
        <p:nvSpPr>
          <p:cNvPr id="9" name="Text 7"/>
          <p:cNvSpPr/>
          <p:nvPr/>
        </p:nvSpPr>
        <p:spPr>
          <a:xfrm>
            <a:off x="661475" y="4850110"/>
            <a:ext cx="5245266" cy="511671"/>
          </a:xfrm>
          <a:prstGeom prst="rect">
            <a:avLst/>
          </a:prstGeom>
          <a:noFill/>
          <a:ln/>
        </p:spPr>
        <p:txBody>
          <a:bodyPr wrap="none" lIns="0" tIns="0" rIns="0" bIns="0" rtlCol="0" anchor="t"/>
          <a:lstStyle/>
          <a:p>
            <a:pPr marL="0" indent="0" algn="ctr" rtl="1">
              <a:lnSpc>
                <a:spcPct val="83000"/>
              </a:lnSpc>
              <a:buNone/>
            </a:pPr>
            <a:r>
              <a:rPr lang="en-US" sz="4000" b="1" dirty="0">
                <a:solidFill>
                  <a:srgbClr val="4A4A45"/>
                </a:solidFill>
                <a:latin typeface="Lato Bold" pitchFamily="34" charset="0"/>
                <a:ea typeface="Lato Bold" pitchFamily="34" charset="-122"/>
                <a:cs typeface="Lato Bold" pitchFamily="34" charset="-120"/>
              </a:rPr>
              <a:t>15%</a:t>
            </a:r>
            <a:endParaRPr lang="en-US" sz="4000" dirty="0"/>
          </a:p>
        </p:txBody>
      </p:sp>
      <p:sp>
        <p:nvSpPr>
          <p:cNvPr id="10" name="Text 8"/>
          <p:cNvSpPr/>
          <p:nvPr/>
        </p:nvSpPr>
        <p:spPr>
          <a:xfrm>
            <a:off x="661475" y="5548213"/>
            <a:ext cx="5245266" cy="242193"/>
          </a:xfrm>
          <a:prstGeom prst="rect">
            <a:avLst/>
          </a:prstGeom>
          <a:noFill/>
          <a:ln/>
        </p:spPr>
        <p:txBody>
          <a:bodyPr wrap="none" lIns="0" tIns="0" rIns="0" bIns="0" rtlCol="0" anchor="t"/>
          <a:lstStyle/>
          <a:p>
            <a:pPr marL="0" indent="0" algn="ctr" rtl="1">
              <a:lnSpc>
                <a:spcPct val="104000"/>
              </a:lnSpc>
              <a:buNone/>
            </a:pPr>
            <a:r>
              <a:rPr lang="ar-SA" altLang="en-US" sz="1500" b="1" dirty="0">
                <a:solidFill>
                  <a:srgbClr val="4A4A45"/>
                </a:solidFill>
                <a:latin typeface="Arial" pitchFamily="34" charset="0"/>
                <a:ea typeface="Arial" pitchFamily="34" charset="-122"/>
                <a:cs typeface="Arial" pitchFamily="34" charset="-120"/>
              </a:rPr>
              <a:t>للتحقق</a:t>
            </a:r>
            <a:endParaRPr lang="ar-SA" sz="1500" dirty="0"/>
          </a:p>
        </p:txBody>
      </p:sp>
      <p:sp>
        <p:nvSpPr>
          <p:cNvPr id="11" name="Text 9"/>
          <p:cNvSpPr/>
          <p:nvPr/>
        </p:nvSpPr>
        <p:spPr>
          <a:xfrm>
            <a:off x="661475" y="5935762"/>
            <a:ext cx="5245266" cy="240308"/>
          </a:xfrm>
          <a:prstGeom prst="rect">
            <a:avLst/>
          </a:prstGeom>
          <a:noFill/>
          <a:ln/>
        </p:spPr>
        <p:txBody>
          <a:bodyPr wrap="none" lIns="0" tIns="0" rIns="0" bIns="0" rtlCol="0" anchor="t"/>
          <a:lstStyle/>
          <a:p>
            <a:pPr marL="0" indent="0" algn="ctr" rtl="1">
              <a:lnSpc>
                <a:spcPct val="129000"/>
              </a:lnSpc>
              <a:buNone/>
            </a:pPr>
            <a:r>
              <a:rPr lang="ar-SA" altLang="en-US" sz="1200" dirty="0">
                <a:solidFill>
                  <a:srgbClr val="4A4A45"/>
                </a:solidFill>
                <a:latin typeface="Arial" pitchFamily="34" charset="0"/>
                <a:ea typeface="Arial" pitchFamily="34" charset="-122"/>
                <a:cs typeface="Arial" pitchFamily="34" charset="-120"/>
              </a:rPr>
              <a:t>من إجمالي البيانات الحقيقية</a:t>
            </a:r>
            <a:endParaRPr lang="ar-SA" sz="1200" dirty="0"/>
          </a:p>
        </p:txBody>
      </p:sp>
      <p:sp>
        <p:nvSpPr>
          <p:cNvPr id="12" name="Text 10"/>
          <p:cNvSpPr/>
          <p:nvPr/>
        </p:nvSpPr>
        <p:spPr>
          <a:xfrm>
            <a:off x="6291304" y="1366143"/>
            <a:ext cx="5245266" cy="242193"/>
          </a:xfrm>
          <a:prstGeom prst="rect">
            <a:avLst/>
          </a:prstGeom>
          <a:noFill/>
          <a:ln/>
        </p:spPr>
        <p:txBody>
          <a:bodyPr wrap="none" lIns="0" tIns="0" rIns="0" bIns="0" rtlCol="0" anchor="t"/>
          <a:lstStyle/>
          <a:p>
            <a:pPr marL="0" indent="0" algn="r" rtl="1">
              <a:lnSpc>
                <a:spcPct val="104000"/>
              </a:lnSpc>
              <a:buNone/>
            </a:pPr>
            <a:r>
              <a:rPr lang="ar-SA" altLang="en-US" sz="1500" b="1" dirty="0">
                <a:solidFill>
                  <a:srgbClr val="282824"/>
                </a:solidFill>
                <a:latin typeface="Arial" pitchFamily="34" charset="0"/>
                <a:ea typeface="Arial" pitchFamily="34" charset="-122"/>
                <a:cs typeface="Arial" pitchFamily="34" charset="-120"/>
              </a:rPr>
              <a:t>خطوات المعالجة المسبقة وتحسين الصور الحقيقية</a:t>
            </a:r>
            <a:endParaRPr lang="ar-SA" sz="1500" dirty="0"/>
          </a:p>
        </p:txBody>
      </p:sp>
      <p:sp>
        <p:nvSpPr>
          <p:cNvPr id="13" name="Text 11"/>
          <p:cNvSpPr/>
          <p:nvPr/>
        </p:nvSpPr>
        <p:spPr>
          <a:xfrm>
            <a:off x="11226519" y="1771848"/>
            <a:ext cx="310051" cy="193774"/>
          </a:xfrm>
          <a:prstGeom prst="rect">
            <a:avLst/>
          </a:prstGeom>
          <a:noFill/>
          <a:ln/>
        </p:spPr>
        <p:txBody>
          <a:bodyPr wrap="none" lIns="0" tIns="0" rIns="0" bIns="0" rtlCol="0" anchor="ctr"/>
          <a:lstStyle/>
          <a:p>
            <a:pPr marL="0" indent="0" algn="r" rtl="1">
              <a:lnSpc>
                <a:spcPct val="100000"/>
              </a:lnSpc>
              <a:buNone/>
            </a:pPr>
            <a:r>
              <a:rPr lang="en-US" sz="1200" dirty="0">
                <a:solidFill>
                  <a:srgbClr val="4A4A45"/>
                </a:solidFill>
                <a:latin typeface="Lato Light" pitchFamily="34" charset="0"/>
                <a:ea typeface="Lato Light" pitchFamily="34" charset="-122"/>
                <a:cs typeface="Lato Light" pitchFamily="34" charset="-120"/>
              </a:rPr>
              <a:t>01</a:t>
            </a:r>
            <a:endParaRPr lang="en-US" sz="1200" dirty="0"/>
          </a:p>
        </p:txBody>
      </p:sp>
      <p:sp>
        <p:nvSpPr>
          <p:cNvPr id="14" name="Shape 12"/>
          <p:cNvSpPr/>
          <p:nvPr/>
        </p:nvSpPr>
        <p:spPr>
          <a:xfrm>
            <a:off x="6291304" y="2016224"/>
            <a:ext cx="5245266" cy="19050"/>
          </a:xfrm>
          <a:prstGeom prst="rect">
            <a:avLst/>
          </a:prstGeom>
          <a:solidFill>
            <a:srgbClr val="282824"/>
          </a:solidFill>
          <a:ln/>
        </p:spPr>
      </p:sp>
      <p:sp>
        <p:nvSpPr>
          <p:cNvPr id="15" name="Text 13"/>
          <p:cNvSpPr/>
          <p:nvPr/>
        </p:nvSpPr>
        <p:spPr>
          <a:xfrm>
            <a:off x="6291304" y="2131814"/>
            <a:ext cx="5245266" cy="242193"/>
          </a:xfrm>
          <a:prstGeom prst="rect">
            <a:avLst/>
          </a:prstGeom>
          <a:noFill/>
          <a:ln/>
        </p:spPr>
        <p:txBody>
          <a:bodyPr wrap="none" lIns="0" tIns="0" rIns="0" bIns="0" rtlCol="0" anchor="t"/>
          <a:lstStyle/>
          <a:p>
            <a:pPr marL="0" indent="0" algn="r" rtl="1">
              <a:lnSpc>
                <a:spcPct val="104000"/>
              </a:lnSpc>
              <a:buNone/>
            </a:pPr>
            <a:r>
              <a:rPr lang="ar-SA" altLang="en-US" sz="1500" b="1" dirty="0">
                <a:solidFill>
                  <a:srgbClr val="4A4A45"/>
                </a:solidFill>
                <a:latin typeface="Arial" pitchFamily="34" charset="0"/>
                <a:ea typeface="Arial" pitchFamily="34" charset="-122"/>
                <a:cs typeface="Arial" pitchFamily="34" charset="-120"/>
              </a:rPr>
              <a:t>تحويل إلى Grayscale</a:t>
            </a:r>
            <a:endParaRPr lang="ar-SA" sz="1500" dirty="0"/>
          </a:p>
        </p:txBody>
      </p:sp>
      <p:sp>
        <p:nvSpPr>
          <p:cNvPr id="16" name="Text 14"/>
          <p:cNvSpPr/>
          <p:nvPr/>
        </p:nvSpPr>
        <p:spPr>
          <a:xfrm>
            <a:off x="6291304" y="2519363"/>
            <a:ext cx="5245266" cy="240308"/>
          </a:xfrm>
          <a:prstGeom prst="rect">
            <a:avLst/>
          </a:prstGeom>
          <a:noFill/>
          <a:ln/>
        </p:spPr>
        <p:txBody>
          <a:bodyPr wrap="none" lIns="0" tIns="0" rIns="0" bIns="0" rtlCol="0" anchor="t"/>
          <a:lstStyle/>
          <a:p>
            <a:pPr marL="0" indent="0" algn="r" rtl="1">
              <a:lnSpc>
                <a:spcPct val="129000"/>
              </a:lnSpc>
              <a:buNone/>
            </a:pPr>
            <a:r>
              <a:rPr lang="ar-SA" altLang="en-US" sz="1200" dirty="0">
                <a:solidFill>
                  <a:srgbClr val="4A4A45"/>
                </a:solidFill>
                <a:latin typeface="Arial" pitchFamily="34" charset="0"/>
                <a:ea typeface="Arial" pitchFamily="34" charset="-122"/>
                <a:cs typeface="Arial" pitchFamily="34" charset="-120"/>
              </a:rPr>
              <a:t>تحويل الصور إلى درجات الرمادي للتركيز على بنية الحروف وتقليل التعقيد اللوني</a:t>
            </a:r>
            <a:endParaRPr lang="ar-SA" sz="1200" dirty="0"/>
          </a:p>
        </p:txBody>
      </p:sp>
      <p:sp>
        <p:nvSpPr>
          <p:cNvPr id="17" name="Text 15"/>
          <p:cNvSpPr/>
          <p:nvPr/>
        </p:nvSpPr>
        <p:spPr>
          <a:xfrm>
            <a:off x="11226519" y="3021310"/>
            <a:ext cx="310051" cy="193774"/>
          </a:xfrm>
          <a:prstGeom prst="rect">
            <a:avLst/>
          </a:prstGeom>
          <a:noFill/>
          <a:ln/>
        </p:spPr>
        <p:txBody>
          <a:bodyPr wrap="none" lIns="0" tIns="0" rIns="0" bIns="0" rtlCol="0" anchor="ctr"/>
          <a:lstStyle/>
          <a:p>
            <a:pPr marL="0" indent="0" algn="r" rtl="1">
              <a:lnSpc>
                <a:spcPct val="100000"/>
              </a:lnSpc>
              <a:buNone/>
            </a:pPr>
            <a:r>
              <a:rPr lang="en-US" sz="1200" dirty="0">
                <a:solidFill>
                  <a:srgbClr val="4A4A45"/>
                </a:solidFill>
                <a:latin typeface="Lato Light" pitchFamily="34" charset="0"/>
                <a:ea typeface="Lato Light" pitchFamily="34" charset="-122"/>
                <a:cs typeface="Lato Light" pitchFamily="34" charset="-120"/>
              </a:rPr>
              <a:t>02</a:t>
            </a:r>
            <a:endParaRPr lang="en-US" sz="1200" dirty="0"/>
          </a:p>
        </p:txBody>
      </p:sp>
      <p:sp>
        <p:nvSpPr>
          <p:cNvPr id="18" name="Shape 16"/>
          <p:cNvSpPr/>
          <p:nvPr/>
        </p:nvSpPr>
        <p:spPr>
          <a:xfrm>
            <a:off x="6291304" y="3265686"/>
            <a:ext cx="5245266" cy="19050"/>
          </a:xfrm>
          <a:prstGeom prst="rect">
            <a:avLst/>
          </a:prstGeom>
          <a:solidFill>
            <a:srgbClr val="282824"/>
          </a:solidFill>
          <a:ln/>
        </p:spPr>
      </p:sp>
      <p:sp>
        <p:nvSpPr>
          <p:cNvPr id="19" name="Text 17"/>
          <p:cNvSpPr/>
          <p:nvPr/>
        </p:nvSpPr>
        <p:spPr>
          <a:xfrm>
            <a:off x="6291304" y="3381276"/>
            <a:ext cx="5245266" cy="242193"/>
          </a:xfrm>
          <a:prstGeom prst="rect">
            <a:avLst/>
          </a:prstGeom>
          <a:noFill/>
          <a:ln/>
        </p:spPr>
        <p:txBody>
          <a:bodyPr wrap="none" lIns="0" tIns="0" rIns="0" bIns="0" rtlCol="0" anchor="t"/>
          <a:lstStyle/>
          <a:p>
            <a:pPr marL="0" indent="0" algn="r" rtl="1">
              <a:lnSpc>
                <a:spcPct val="104000"/>
              </a:lnSpc>
              <a:buNone/>
            </a:pPr>
            <a:r>
              <a:rPr lang="ar-SA" altLang="en-US" sz="1500" b="1" dirty="0">
                <a:solidFill>
                  <a:srgbClr val="4A4A45"/>
                </a:solidFill>
                <a:latin typeface="Arial" pitchFamily="34" charset="0"/>
                <a:ea typeface="Arial" pitchFamily="34" charset="-122"/>
                <a:cs typeface="Arial" pitchFamily="34" charset="-120"/>
              </a:rPr>
              <a:t>تقليل الضوضاء</a:t>
            </a:r>
            <a:endParaRPr lang="ar-SA" sz="1500" dirty="0"/>
          </a:p>
        </p:txBody>
      </p:sp>
      <p:sp>
        <p:nvSpPr>
          <p:cNvPr id="20" name="Text 18"/>
          <p:cNvSpPr/>
          <p:nvPr/>
        </p:nvSpPr>
        <p:spPr>
          <a:xfrm>
            <a:off x="6291304" y="3768824"/>
            <a:ext cx="5245266" cy="240308"/>
          </a:xfrm>
          <a:prstGeom prst="rect">
            <a:avLst/>
          </a:prstGeom>
          <a:noFill/>
          <a:ln/>
        </p:spPr>
        <p:txBody>
          <a:bodyPr wrap="none" lIns="0" tIns="0" rIns="0" bIns="0" rtlCol="0" anchor="t"/>
          <a:lstStyle/>
          <a:p>
            <a:pPr marL="0" indent="0" algn="r" rtl="1">
              <a:lnSpc>
                <a:spcPct val="129000"/>
              </a:lnSpc>
              <a:buNone/>
            </a:pPr>
            <a:r>
              <a:rPr lang="ar-SA" altLang="en-US" sz="1200" dirty="0">
                <a:solidFill>
                  <a:srgbClr val="4A4A45"/>
                </a:solidFill>
                <a:latin typeface="Arial" pitchFamily="34" charset="0"/>
                <a:ea typeface="Arial" pitchFamily="34" charset="-122"/>
                <a:cs typeface="Arial" pitchFamily="34" charset="-120"/>
              </a:rPr>
              <a:t>استخدام تقنية </a:t>
            </a:r>
            <a:r>
              <a:rPr lang="ar-SA" altLang="en-US" sz="1200" dirty="0">
                <a:solidFill>
                  <a:srgbClr val="4A4A45"/>
                </a:solidFill>
                <a:highlight>
                  <a:srgbClr val="E2DFD9"/>
                </a:highlight>
                <a:latin typeface="Consolas" pitchFamily="34" charset="0"/>
                <a:ea typeface="Consolas" pitchFamily="34" charset="-122"/>
                <a:cs typeface="Consolas" pitchFamily="34" charset="-120"/>
              </a:rPr>
              <a:t>fastNIMeans Denoising</a:t>
            </a:r>
            <a:r>
              <a:rPr lang="ar-SA" altLang="en-US" sz="1200" dirty="0">
                <a:solidFill>
                  <a:srgbClr val="4A4A45"/>
                </a:solidFill>
                <a:latin typeface="Arial" pitchFamily="34" charset="0"/>
                <a:ea typeface="Arial" pitchFamily="34" charset="-122"/>
                <a:cs typeface="Arial" pitchFamily="34" charset="-120"/>
              </a:rPr>
              <a:t> لإزالة التشويش من الصور التاريخية</a:t>
            </a:r>
            <a:endParaRPr lang="ar-SA" sz="1200" dirty="0"/>
          </a:p>
        </p:txBody>
      </p:sp>
      <p:sp>
        <p:nvSpPr>
          <p:cNvPr id="21" name="Text 19"/>
          <p:cNvSpPr/>
          <p:nvPr/>
        </p:nvSpPr>
        <p:spPr>
          <a:xfrm>
            <a:off x="11226519" y="4270772"/>
            <a:ext cx="310051" cy="193774"/>
          </a:xfrm>
          <a:prstGeom prst="rect">
            <a:avLst/>
          </a:prstGeom>
          <a:noFill/>
          <a:ln/>
        </p:spPr>
        <p:txBody>
          <a:bodyPr wrap="none" lIns="0" tIns="0" rIns="0" bIns="0" rtlCol="0" anchor="ctr"/>
          <a:lstStyle/>
          <a:p>
            <a:pPr marL="0" indent="0" algn="r" rtl="1">
              <a:lnSpc>
                <a:spcPct val="100000"/>
              </a:lnSpc>
              <a:buNone/>
            </a:pPr>
            <a:r>
              <a:rPr lang="en-US" sz="1200" dirty="0">
                <a:solidFill>
                  <a:srgbClr val="4A4A45"/>
                </a:solidFill>
                <a:latin typeface="Lato Light" pitchFamily="34" charset="0"/>
                <a:ea typeface="Lato Light" pitchFamily="34" charset="-122"/>
                <a:cs typeface="Lato Light" pitchFamily="34" charset="-120"/>
              </a:rPr>
              <a:t>03</a:t>
            </a:r>
            <a:endParaRPr lang="en-US" sz="1200" dirty="0"/>
          </a:p>
        </p:txBody>
      </p:sp>
      <p:sp>
        <p:nvSpPr>
          <p:cNvPr id="22" name="Shape 20"/>
          <p:cNvSpPr/>
          <p:nvPr/>
        </p:nvSpPr>
        <p:spPr>
          <a:xfrm>
            <a:off x="6291304" y="4515148"/>
            <a:ext cx="5245266" cy="19050"/>
          </a:xfrm>
          <a:prstGeom prst="rect">
            <a:avLst/>
          </a:prstGeom>
          <a:solidFill>
            <a:srgbClr val="282824"/>
          </a:solidFill>
          <a:ln/>
        </p:spPr>
      </p:sp>
      <p:sp>
        <p:nvSpPr>
          <p:cNvPr id="23" name="Text 21"/>
          <p:cNvSpPr/>
          <p:nvPr/>
        </p:nvSpPr>
        <p:spPr>
          <a:xfrm>
            <a:off x="6291304" y="4630738"/>
            <a:ext cx="5245266" cy="242193"/>
          </a:xfrm>
          <a:prstGeom prst="rect">
            <a:avLst/>
          </a:prstGeom>
          <a:noFill/>
          <a:ln/>
        </p:spPr>
        <p:txBody>
          <a:bodyPr wrap="none" lIns="0" tIns="0" rIns="0" bIns="0" rtlCol="0" anchor="t"/>
          <a:lstStyle/>
          <a:p>
            <a:pPr marL="0" indent="0" algn="r" rtl="1">
              <a:lnSpc>
                <a:spcPct val="104000"/>
              </a:lnSpc>
              <a:buNone/>
            </a:pPr>
            <a:r>
              <a:rPr lang="ar-SA" altLang="en-US" sz="1500" b="1" dirty="0">
                <a:solidFill>
                  <a:srgbClr val="4A4A45"/>
                </a:solidFill>
                <a:latin typeface="Arial" pitchFamily="34" charset="0"/>
                <a:ea typeface="Arial" pitchFamily="34" charset="-122"/>
                <a:cs typeface="Arial" pitchFamily="34" charset="-120"/>
              </a:rPr>
              <a:t>تحسين التباين المحلي</a:t>
            </a:r>
            <a:endParaRPr lang="ar-SA" sz="1500" dirty="0"/>
          </a:p>
        </p:txBody>
      </p:sp>
      <p:sp>
        <p:nvSpPr>
          <p:cNvPr id="24" name="Text 22"/>
          <p:cNvSpPr/>
          <p:nvPr/>
        </p:nvSpPr>
        <p:spPr>
          <a:xfrm>
            <a:off x="6291304" y="5018286"/>
            <a:ext cx="5245266" cy="240308"/>
          </a:xfrm>
          <a:prstGeom prst="rect">
            <a:avLst/>
          </a:prstGeom>
          <a:noFill/>
          <a:ln/>
        </p:spPr>
        <p:txBody>
          <a:bodyPr wrap="none" lIns="0" tIns="0" rIns="0" bIns="0" rtlCol="0" anchor="t"/>
          <a:lstStyle/>
          <a:p>
            <a:pPr marL="0" indent="0" algn="r" rtl="1">
              <a:lnSpc>
                <a:spcPct val="129000"/>
              </a:lnSpc>
              <a:buNone/>
            </a:pPr>
            <a:r>
              <a:rPr lang="ar-SA" altLang="en-US" sz="1200" dirty="0">
                <a:solidFill>
                  <a:srgbClr val="4A4A45"/>
                </a:solidFill>
                <a:latin typeface="Arial" pitchFamily="34" charset="0"/>
                <a:ea typeface="Arial" pitchFamily="34" charset="-122"/>
                <a:cs typeface="Arial" pitchFamily="34" charset="-120"/>
              </a:rPr>
              <a:t>تطبيق تقنية </a:t>
            </a:r>
            <a:r>
              <a:rPr lang="ar-SA" altLang="en-US" sz="1200" dirty="0">
                <a:solidFill>
                  <a:srgbClr val="4A4A45"/>
                </a:solidFill>
                <a:highlight>
                  <a:srgbClr val="E2DFD9"/>
                </a:highlight>
                <a:latin typeface="Consolas" pitchFamily="34" charset="0"/>
                <a:ea typeface="Consolas" pitchFamily="34" charset="-122"/>
                <a:cs typeface="Consolas" pitchFamily="34" charset="-120"/>
              </a:rPr>
              <a:t>CLAHE</a:t>
            </a:r>
            <a:r>
              <a:rPr lang="ar-SA" altLang="en-US" sz="1200" dirty="0">
                <a:solidFill>
                  <a:srgbClr val="4A4A45"/>
                </a:solidFill>
                <a:latin typeface="Arial" pitchFamily="34" charset="0"/>
                <a:ea typeface="Arial" pitchFamily="34" charset="-122"/>
                <a:cs typeface="Arial" pitchFamily="34" charset="-120"/>
              </a:rPr>
              <a:t> لتعزيز وضوح الخطوط والحروف في مناطق الإضاءة غير المتجانسة</a:t>
            </a:r>
            <a:endParaRPr lang="ar-SA" sz="12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244302"/>
            <a:ext cx="10868745" cy="516731"/>
          </a:xfrm>
          <a:prstGeom prst="rect">
            <a:avLst/>
          </a:prstGeom>
          <a:noFill/>
          <a:ln/>
        </p:spPr>
        <p:txBody>
          <a:bodyPr wrap="none" lIns="0" tIns="0" rIns="0" bIns="0" rtlCol="0" anchor="t"/>
          <a:lstStyle/>
          <a:p>
            <a:pPr marL="0" indent="0" algn="r" rtl="1">
              <a:lnSpc>
                <a:spcPct val="104000"/>
              </a:lnSpc>
              <a:buNone/>
            </a:pPr>
            <a:r>
              <a:rPr lang="ar-SA" altLang="en-US" sz="3250" b="1" dirty="0">
                <a:solidFill>
                  <a:srgbClr val="282824"/>
                </a:solidFill>
                <a:latin typeface="Arial" pitchFamily="34" charset="0"/>
                <a:ea typeface="Arial" pitchFamily="34" charset="-122"/>
                <a:cs typeface="Arial" pitchFamily="34" charset="-120"/>
              </a:rPr>
              <a:t>الضبط الدقيق (Fine-tuning) والنموذج النهائي</a:t>
            </a:r>
            <a:endParaRPr lang="ar-SA" sz="3250" dirty="0"/>
          </a:p>
        </p:txBody>
      </p:sp>
      <p:sp>
        <p:nvSpPr>
          <p:cNvPr id="3" name="Text 1"/>
          <p:cNvSpPr/>
          <p:nvPr/>
        </p:nvSpPr>
        <p:spPr>
          <a:xfrm>
            <a:off x="661475" y="2174379"/>
            <a:ext cx="5232666"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282824"/>
                </a:solidFill>
                <a:latin typeface="Arial" pitchFamily="34" charset="0"/>
                <a:ea typeface="Arial" pitchFamily="34" charset="-122"/>
                <a:cs typeface="Arial" pitchFamily="34" charset="-120"/>
              </a:rPr>
              <a:t>إعدادات الضبط الدقيق</a:t>
            </a:r>
            <a:endParaRPr lang="ar-SA" sz="1600" dirty="0"/>
          </a:p>
        </p:txBody>
      </p:sp>
      <p:pic>
        <p:nvPicPr>
          <p:cNvPr id="4" name="Image 0" descr="preencoded.png"/>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661475" y="2618879"/>
            <a:ext cx="5232666" cy="1321693"/>
          </a:xfrm>
          <a:prstGeom prst="rect">
            <a:avLst/>
          </a:prstGeom>
        </p:spPr>
      </p:pic>
      <p:sp>
        <p:nvSpPr>
          <p:cNvPr id="5" name="Text 2"/>
          <p:cNvSpPr/>
          <p:nvPr/>
        </p:nvSpPr>
        <p:spPr>
          <a:xfrm>
            <a:off x="845819" y="2803227"/>
            <a:ext cx="4787780"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تجميد الطبقات (Freeze)</a:t>
            </a:r>
            <a:endParaRPr lang="ar-SA" sz="1600" dirty="0"/>
          </a:p>
        </p:txBody>
      </p:sp>
      <p:sp>
        <p:nvSpPr>
          <p:cNvPr id="6" name="Text 3"/>
          <p:cNvSpPr/>
          <p:nvPr/>
        </p:nvSpPr>
        <p:spPr>
          <a:xfrm>
            <a:off x="845819" y="3226991"/>
            <a:ext cx="4787780" cy="529233"/>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إعادة تدريب النموذج بأفضل أوزان سابقة مع تطبيق تجميد لـ </a:t>
            </a:r>
            <a:r>
              <a:rPr lang="ar-SA" altLang="en-US" sz="1300" b="1" dirty="0">
                <a:solidFill>
                  <a:schemeClr val="bg2">
                    <a:lumMod val="25000"/>
                  </a:schemeClr>
                </a:solidFill>
                <a:latin typeface="Arial" pitchFamily="34" charset="0"/>
                <a:ea typeface="Arial" pitchFamily="34" charset="-122"/>
                <a:cs typeface="Arial" pitchFamily="34" charset="-120"/>
              </a:rPr>
              <a:t>10 طبقات</a:t>
            </a:r>
            <a:r>
              <a:rPr lang="ar-SA" altLang="en-US" sz="1300" dirty="0">
                <a:solidFill>
                  <a:schemeClr val="bg2">
                    <a:lumMod val="25000"/>
                  </a:schemeClr>
                </a:solidFill>
                <a:latin typeface="Arial" pitchFamily="34" charset="0"/>
                <a:ea typeface="Arial" pitchFamily="34" charset="-122"/>
                <a:cs typeface="Arial" pitchFamily="34" charset="-120"/>
              </a:rPr>
              <a:t> </a:t>
            </a:r>
            <a:r>
              <a:rPr lang="ar-SA" altLang="en-US" sz="1300" dirty="0">
                <a:solidFill>
                  <a:srgbClr val="4A4A45"/>
                </a:solidFill>
                <a:latin typeface="Arial" pitchFamily="34" charset="0"/>
                <a:ea typeface="Arial" pitchFamily="34" charset="-122"/>
                <a:cs typeface="Arial" pitchFamily="34" charset="-120"/>
              </a:rPr>
              <a:t>للحفاظ على المعرفة المكتسبة من مرحلة Pre-training.</a:t>
            </a:r>
            <a:endParaRPr lang="ar-SA" sz="1300" dirty="0"/>
          </a:p>
        </p:txBody>
      </p:sp>
      <p:pic>
        <p:nvPicPr>
          <p:cNvPr id="7" name="Image 1" descr="preencoded.png"/>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661475" y="4105870"/>
            <a:ext cx="5232666" cy="1321693"/>
          </a:xfrm>
          <a:prstGeom prst="rect">
            <a:avLst/>
          </a:prstGeom>
        </p:spPr>
      </p:pic>
      <p:sp>
        <p:nvSpPr>
          <p:cNvPr id="8" name="Text 4"/>
          <p:cNvSpPr/>
          <p:nvPr/>
        </p:nvSpPr>
        <p:spPr>
          <a:xfrm>
            <a:off x="845819" y="4290219"/>
            <a:ext cx="4787780"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معدل التعلم البطيء</a:t>
            </a:r>
            <a:endParaRPr lang="ar-SA" sz="1600" dirty="0"/>
          </a:p>
        </p:txBody>
      </p:sp>
      <p:sp>
        <p:nvSpPr>
          <p:cNvPr id="9" name="Text 5"/>
          <p:cNvSpPr/>
          <p:nvPr/>
        </p:nvSpPr>
        <p:spPr>
          <a:xfrm>
            <a:off x="845819" y="4713982"/>
            <a:ext cx="4787780" cy="529233"/>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استخدام معدل تعلم منخفض جداً </a:t>
            </a:r>
            <a:r>
              <a:rPr lang="ar-SA" altLang="en-US" sz="1300" b="1" dirty="0">
                <a:solidFill>
                  <a:schemeClr val="bg2">
                    <a:lumMod val="25000"/>
                  </a:schemeClr>
                </a:solidFill>
                <a:latin typeface="Lato Bold" pitchFamily="34" charset="0"/>
                <a:ea typeface="Lato Bold" pitchFamily="34" charset="-122"/>
                <a:cs typeface="Lato Bold" pitchFamily="34" charset="-120"/>
              </a:rPr>
              <a:t>0.0001</a:t>
            </a:r>
            <a:r>
              <a:rPr lang="ar-SA" altLang="en-US" sz="1300" dirty="0">
                <a:solidFill>
                  <a:srgbClr val="4A4A45"/>
                </a:solidFill>
                <a:latin typeface="Arial" pitchFamily="34" charset="0"/>
                <a:ea typeface="Arial" pitchFamily="34" charset="-122"/>
                <a:cs typeface="Arial" pitchFamily="34" charset="-120"/>
              </a:rPr>
              <a:t> وحجم صورة </a:t>
            </a:r>
            <a:r>
              <a:rPr lang="ar-SA" altLang="en-US" sz="1300" b="1" dirty="0">
                <a:solidFill>
                  <a:srgbClr val="4A4A45"/>
                </a:solidFill>
                <a:latin typeface="Lato Bold" pitchFamily="34" charset="0"/>
                <a:ea typeface="Lato Bold" pitchFamily="34" charset="-122"/>
                <a:cs typeface="Lato Bold" pitchFamily="34" charset="-120"/>
              </a:rPr>
              <a:t>1040</a:t>
            </a:r>
            <a:r>
              <a:rPr lang="ar-SA" altLang="en-US" sz="1300" dirty="0">
                <a:solidFill>
                  <a:srgbClr val="4A4A45"/>
                </a:solidFill>
                <a:latin typeface="Arial" pitchFamily="34" charset="0"/>
                <a:ea typeface="Arial" pitchFamily="34" charset="-122"/>
                <a:cs typeface="Arial" pitchFamily="34" charset="-120"/>
              </a:rPr>
              <a:t> لنقل معرفة النموذج بدقة للصور الحقيقية دون الإفراط في التعديل.</a:t>
            </a:r>
            <a:endParaRPr lang="ar-SA" sz="1300" dirty="0"/>
          </a:p>
        </p:txBody>
      </p:sp>
      <p:sp>
        <p:nvSpPr>
          <p:cNvPr id="10" name="Text 6"/>
          <p:cNvSpPr/>
          <p:nvPr/>
        </p:nvSpPr>
        <p:spPr>
          <a:xfrm>
            <a:off x="6303904" y="2174379"/>
            <a:ext cx="5232666"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282824"/>
                </a:solidFill>
                <a:latin typeface="Arial" pitchFamily="34" charset="0"/>
                <a:ea typeface="Arial" pitchFamily="34" charset="-122"/>
                <a:cs typeface="Arial" pitchFamily="34" charset="-120"/>
              </a:rPr>
              <a:t>النموذج النهائي للنظام</a:t>
            </a:r>
            <a:endParaRPr lang="ar-SA" sz="1600" dirty="0"/>
          </a:p>
        </p:txBody>
      </p:sp>
      <p:sp>
        <p:nvSpPr>
          <p:cNvPr id="11" name="Shape 7"/>
          <p:cNvSpPr/>
          <p:nvPr/>
        </p:nvSpPr>
        <p:spPr>
          <a:xfrm>
            <a:off x="9002884" y="2618879"/>
            <a:ext cx="2533686" cy="1548209"/>
          </a:xfrm>
          <a:prstGeom prst="roundRect">
            <a:avLst>
              <a:gd name="adj" fmla="val 1602"/>
            </a:avLst>
          </a:prstGeom>
          <a:solidFill>
            <a:srgbClr val="E5DFD2"/>
          </a:solidFill>
          <a:ln/>
        </p:spPr>
      </p:sp>
      <p:sp>
        <p:nvSpPr>
          <p:cNvPr id="12" name="Text 8"/>
          <p:cNvSpPr/>
          <p:nvPr/>
        </p:nvSpPr>
        <p:spPr>
          <a:xfrm>
            <a:off x="9168178" y="2784177"/>
            <a:ext cx="2203097"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ملف الأوزان</a:t>
            </a:r>
            <a:endParaRPr lang="ar-SA" sz="1600" dirty="0"/>
          </a:p>
        </p:txBody>
      </p:sp>
      <p:sp>
        <p:nvSpPr>
          <p:cNvPr id="13" name="Text 9"/>
          <p:cNvSpPr/>
          <p:nvPr/>
        </p:nvSpPr>
        <p:spPr>
          <a:xfrm>
            <a:off x="9168178" y="3207941"/>
            <a:ext cx="2203097" cy="529233"/>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اعتماد </a:t>
            </a:r>
            <a:r>
              <a:rPr lang="ar-SA" altLang="en-US" sz="1300" dirty="0">
                <a:solidFill>
                  <a:srgbClr val="4A4A45"/>
                </a:solidFill>
                <a:highlight>
                  <a:srgbClr val="E2DFD9"/>
                </a:highlight>
                <a:latin typeface="Consolas" pitchFamily="34" charset="0"/>
                <a:ea typeface="Consolas" pitchFamily="34" charset="-122"/>
                <a:cs typeface="Consolas" pitchFamily="34" charset="-120"/>
              </a:rPr>
              <a:t>best.pt</a:t>
            </a:r>
            <a:r>
              <a:rPr lang="ar-SA" altLang="en-US" sz="1300" dirty="0">
                <a:solidFill>
                  <a:srgbClr val="4A4A45"/>
                </a:solidFill>
                <a:latin typeface="Arial" pitchFamily="34" charset="0"/>
                <a:ea typeface="Arial" pitchFamily="34" charset="-122"/>
                <a:cs typeface="Arial" pitchFamily="34" charset="-120"/>
              </a:rPr>
              <a:t> لمرحلة الاستدلال (Inference) كأفضل نقطة تقارب</a:t>
            </a:r>
            <a:endParaRPr lang="ar-SA" sz="1300" dirty="0"/>
          </a:p>
        </p:txBody>
      </p:sp>
      <p:sp>
        <p:nvSpPr>
          <p:cNvPr id="14" name="Shape 10"/>
          <p:cNvSpPr/>
          <p:nvPr/>
        </p:nvSpPr>
        <p:spPr>
          <a:xfrm>
            <a:off x="6303904" y="2618879"/>
            <a:ext cx="2533686" cy="1548209"/>
          </a:xfrm>
          <a:prstGeom prst="roundRect">
            <a:avLst>
              <a:gd name="adj" fmla="val 1602"/>
            </a:avLst>
          </a:prstGeom>
          <a:solidFill>
            <a:srgbClr val="E5DFD2"/>
          </a:solidFill>
          <a:ln/>
        </p:spPr>
      </p:sp>
      <p:sp>
        <p:nvSpPr>
          <p:cNvPr id="15" name="Text 11"/>
          <p:cNvSpPr/>
          <p:nvPr/>
        </p:nvSpPr>
        <p:spPr>
          <a:xfrm>
            <a:off x="6469198" y="2784177"/>
            <a:ext cx="2203097"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تحويل الفئات</a:t>
            </a:r>
            <a:endParaRPr lang="ar-SA" sz="1600" dirty="0"/>
          </a:p>
        </p:txBody>
      </p:sp>
      <p:sp>
        <p:nvSpPr>
          <p:cNvPr id="16" name="Text 12"/>
          <p:cNvSpPr/>
          <p:nvPr/>
        </p:nvSpPr>
        <p:spPr>
          <a:xfrm>
            <a:off x="6469198" y="3207941"/>
            <a:ext cx="2203097" cy="793849"/>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استخدام </a:t>
            </a:r>
            <a:r>
              <a:rPr lang="ar-SA" altLang="en-US" sz="1300" dirty="0">
                <a:solidFill>
                  <a:srgbClr val="4A4A45"/>
                </a:solidFill>
                <a:highlight>
                  <a:srgbClr val="E2DFD9"/>
                </a:highlight>
                <a:latin typeface="Consolas" pitchFamily="34" charset="0"/>
                <a:ea typeface="Consolas" pitchFamily="34" charset="-122"/>
                <a:cs typeface="Consolas" pitchFamily="34" charset="-120"/>
              </a:rPr>
              <a:t>Alphabet.json</a:t>
            </a:r>
            <a:r>
              <a:rPr lang="ar-SA" altLang="en-US" sz="1300" dirty="0">
                <a:solidFill>
                  <a:srgbClr val="4A4A45"/>
                </a:solidFill>
                <a:latin typeface="Arial" pitchFamily="34" charset="0"/>
                <a:ea typeface="Arial" pitchFamily="34" charset="-122"/>
                <a:cs typeface="Arial" pitchFamily="34" charset="-120"/>
              </a:rPr>
              <a:t> لتحويل معرفات الفئات (Class IDs) مباشرة إلى حروف النص الأصلي</a:t>
            </a:r>
            <a:endParaRPr lang="ar-SA" sz="13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933476"/>
            <a:ext cx="10868745" cy="516731"/>
          </a:xfrm>
          <a:prstGeom prst="rect">
            <a:avLst/>
          </a:prstGeom>
          <a:noFill/>
          <a:ln/>
        </p:spPr>
        <p:txBody>
          <a:bodyPr wrap="none" lIns="0" tIns="0" rIns="0" bIns="0" rtlCol="0" anchor="t"/>
          <a:lstStyle/>
          <a:p>
            <a:pPr marL="0" indent="0" algn="r" rtl="1">
              <a:lnSpc>
                <a:spcPct val="104000"/>
              </a:lnSpc>
              <a:buNone/>
            </a:pPr>
            <a:r>
              <a:rPr lang="ar-SA" altLang="en-US" sz="3250" b="1" dirty="0">
                <a:solidFill>
                  <a:srgbClr val="282824"/>
                </a:solidFill>
                <a:latin typeface="Arial" pitchFamily="34" charset="0"/>
                <a:ea typeface="Arial" pitchFamily="34" charset="-122"/>
                <a:cs typeface="Arial" pitchFamily="34" charset="-120"/>
              </a:rPr>
              <a:t>واجهة المستخدم والنشر كتطبيق</a:t>
            </a:r>
            <a:endParaRPr lang="ar-SA" sz="3250" dirty="0"/>
          </a:p>
        </p:txBody>
      </p:sp>
      <p:pic>
        <p:nvPicPr>
          <p:cNvPr id="3" name="Image 0" descr="preencoded.png"/>
          <p:cNvPicPr>
            <a:picLocks noChangeAspect="1"/>
          </p:cNvPicPr>
          <p:nvPr/>
        </p:nvPicPr>
        <p:blipFill>
          <a:blip r:embed="rId3"/>
          <a:stretch>
            <a:fillRect/>
          </a:stretch>
        </p:blipFill>
        <p:spPr>
          <a:xfrm>
            <a:off x="7907338" y="2780903"/>
            <a:ext cx="3622882" cy="661491"/>
          </a:xfrm>
          <a:prstGeom prst="rect">
            <a:avLst/>
          </a:prstGeom>
        </p:spPr>
      </p:pic>
      <p:sp>
        <p:nvSpPr>
          <p:cNvPr id="4" name="Text 1"/>
          <p:cNvSpPr/>
          <p:nvPr/>
        </p:nvSpPr>
        <p:spPr>
          <a:xfrm>
            <a:off x="8072632" y="3607693"/>
            <a:ext cx="3292293"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تطوير الواجهة (Gradio)</a:t>
            </a:r>
            <a:endParaRPr lang="ar-SA" sz="1600" dirty="0"/>
          </a:p>
        </p:txBody>
      </p:sp>
      <p:sp>
        <p:nvSpPr>
          <p:cNvPr id="5" name="Text 2"/>
          <p:cNvSpPr/>
          <p:nvPr/>
        </p:nvSpPr>
        <p:spPr>
          <a:xfrm>
            <a:off x="8072632" y="3965377"/>
            <a:ext cx="3292293" cy="793849"/>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بناء واجهة تفاعلية عبر </a:t>
            </a:r>
            <a:r>
              <a:rPr lang="ar-SA" altLang="en-US" sz="1300" dirty="0">
                <a:solidFill>
                  <a:srgbClr val="4A4A45"/>
                </a:solidFill>
                <a:highlight>
                  <a:srgbClr val="E2DFD9"/>
                </a:highlight>
                <a:latin typeface="Consolas" pitchFamily="34" charset="0"/>
                <a:ea typeface="Consolas" pitchFamily="34" charset="-122"/>
                <a:cs typeface="Consolas" pitchFamily="34" charset="-120"/>
              </a:rPr>
              <a:t>app.py</a:t>
            </a:r>
            <a:r>
              <a:rPr lang="ar-SA" altLang="en-US" sz="1300" dirty="0">
                <a:solidFill>
                  <a:srgbClr val="4A4A45"/>
                </a:solidFill>
                <a:latin typeface="Arial" pitchFamily="34" charset="0"/>
                <a:ea typeface="Arial" pitchFamily="34" charset="-122"/>
                <a:cs typeface="Arial" pitchFamily="34" charset="-120"/>
              </a:rPr>
              <a:t> توفر خيار رفع الصور أو التحليل المباشر عبر الكاميرا (Webcam Streaming)</a:t>
            </a:r>
            <a:endParaRPr lang="ar-SA" sz="1300" dirty="0"/>
          </a:p>
        </p:txBody>
      </p:sp>
      <p:pic>
        <p:nvPicPr>
          <p:cNvPr id="6" name="Image 1" descr="preencoded.png"/>
          <p:cNvPicPr>
            <a:picLocks noChangeAspect="1"/>
          </p:cNvPicPr>
          <p:nvPr/>
        </p:nvPicPr>
        <p:blipFill>
          <a:blip r:embed="rId4"/>
          <a:stretch>
            <a:fillRect/>
          </a:stretch>
        </p:blipFill>
        <p:spPr>
          <a:xfrm>
            <a:off x="4284456" y="2780903"/>
            <a:ext cx="3622882" cy="661491"/>
          </a:xfrm>
          <a:prstGeom prst="rect">
            <a:avLst/>
          </a:prstGeom>
        </p:spPr>
      </p:pic>
      <p:sp>
        <p:nvSpPr>
          <p:cNvPr id="7" name="Text 3"/>
          <p:cNvSpPr/>
          <p:nvPr/>
        </p:nvSpPr>
        <p:spPr>
          <a:xfrm>
            <a:off x="4449750" y="3607693"/>
            <a:ext cx="3292293"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المعالجة اللاحقة للنص</a:t>
            </a:r>
            <a:endParaRPr lang="ar-SA" sz="1600" dirty="0"/>
          </a:p>
        </p:txBody>
      </p:sp>
      <p:sp>
        <p:nvSpPr>
          <p:cNvPr id="8" name="Text 4"/>
          <p:cNvSpPr/>
          <p:nvPr/>
        </p:nvSpPr>
        <p:spPr>
          <a:xfrm>
            <a:off x="4449750" y="3965377"/>
            <a:ext cx="3292293" cy="793849"/>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خوارزمية لتجميع الحروف المكتشفة في أسطرها الصحيحة وحساب المسافات الفاصلة بين الكلمات تلقائياً</a:t>
            </a:r>
            <a:endParaRPr lang="ar-SA" sz="1300" dirty="0"/>
          </a:p>
        </p:txBody>
      </p:sp>
      <p:pic>
        <p:nvPicPr>
          <p:cNvPr id="9" name="Image 2" descr="preencoded.png"/>
          <p:cNvPicPr>
            <a:picLocks noChangeAspect="1"/>
          </p:cNvPicPr>
          <p:nvPr/>
        </p:nvPicPr>
        <p:blipFill>
          <a:blip r:embed="rId5"/>
          <a:stretch>
            <a:fillRect/>
          </a:stretch>
        </p:blipFill>
        <p:spPr>
          <a:xfrm>
            <a:off x="661574" y="2780903"/>
            <a:ext cx="3622882" cy="661491"/>
          </a:xfrm>
          <a:prstGeom prst="rect">
            <a:avLst/>
          </a:prstGeom>
        </p:spPr>
      </p:pic>
      <p:sp>
        <p:nvSpPr>
          <p:cNvPr id="10" name="Text 5"/>
          <p:cNvSpPr/>
          <p:nvPr/>
        </p:nvSpPr>
        <p:spPr>
          <a:xfrm>
            <a:off x="826868" y="3607693"/>
            <a:ext cx="3292293"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النشر والتحويل لتطبيق</a:t>
            </a:r>
            <a:endParaRPr lang="ar-SA" sz="1600" dirty="0"/>
          </a:p>
        </p:txBody>
      </p:sp>
      <p:sp>
        <p:nvSpPr>
          <p:cNvPr id="11" name="Text 6"/>
          <p:cNvSpPr/>
          <p:nvPr/>
        </p:nvSpPr>
        <p:spPr>
          <a:xfrm>
            <a:off x="826868" y="3965377"/>
            <a:ext cx="3292293" cy="793849"/>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نشر النظام على </a:t>
            </a:r>
            <a:r>
              <a:rPr lang="ar-SA" altLang="en-US" sz="1300" b="1" dirty="0">
                <a:solidFill>
                  <a:srgbClr val="4A4A45"/>
                </a:solidFill>
                <a:latin typeface="Lato Bold" pitchFamily="34" charset="0"/>
                <a:ea typeface="Lato Bold" pitchFamily="34" charset="-122"/>
                <a:cs typeface="Lato Bold" pitchFamily="34" charset="-120"/>
              </a:rPr>
              <a:t>Hugging Face Spaces</a:t>
            </a:r>
            <a:r>
              <a:rPr lang="ar-SA" altLang="en-US" sz="1300" dirty="0">
                <a:solidFill>
                  <a:srgbClr val="4A4A45"/>
                </a:solidFill>
                <a:latin typeface="Arial" pitchFamily="34" charset="0"/>
                <a:ea typeface="Arial" pitchFamily="34" charset="-122"/>
                <a:cs typeface="Arial" pitchFamily="34" charset="-120"/>
              </a:rPr>
              <a:t> وتحويل رابطه إلى تطبيق هاتف ذكي جاهز للاستخدام عبر خدمة Web Into App</a:t>
            </a:r>
            <a:endParaRPr lang="ar-SA" sz="13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282824"/>
                </a:solidFill>
                <a:latin typeface="Arial" pitchFamily="34" charset="0"/>
                <a:ea typeface="Arial" pitchFamily="34" charset="-122"/>
                <a:cs typeface="Arial" pitchFamily="34" charset="-120"/>
              </a:rPr>
              <a:t>نتائج وتقييم أداء النظام</a:t>
            </a:r>
            <a:endParaRPr lang="ar-SA" sz="1600" dirty="0"/>
          </a:p>
        </p:txBody>
      </p:sp>
      <p:sp>
        <p:nvSpPr>
          <p:cNvPr id="4" name="Shape 1"/>
          <p:cNvSpPr/>
          <p:nvPr/>
        </p:nvSpPr>
        <p:spPr>
          <a:xfrm>
            <a:off x="661475" y="6928941"/>
            <a:ext cx="10868745" cy="218877"/>
          </a:xfrm>
          <a:prstGeom prst="roundRect">
            <a:avLst>
              <a:gd name="adj" fmla="val 5667"/>
            </a:avLst>
          </a:prstGeom>
          <a:solidFill>
            <a:srgbClr val="E7E7E4"/>
          </a:solidFill>
          <a:ln/>
        </p:spPr>
      </p:sp>
      <p:pic>
        <p:nvPicPr>
          <p:cNvPr id="5" name="Image 1" descr="preencoded.png"/>
          <p:cNvPicPr>
            <a:picLocks noChangeAspect="1"/>
          </p:cNvPicPr>
          <p:nvPr/>
        </p:nvPicPr>
        <p:blipFill>
          <a:blip r:embed="rId3"/>
          <a:stretch>
            <a:fillRect/>
          </a:stretch>
        </p:blipFill>
        <p:spPr>
          <a:xfrm>
            <a:off x="744122" y="6990854"/>
            <a:ext cx="103284" cy="82649"/>
          </a:xfrm>
          <a:prstGeom prst="rect">
            <a:avLst/>
          </a:prstGeom>
        </p:spPr>
      </p:pic>
      <p:sp>
        <p:nvSpPr>
          <p:cNvPr id="6" name="Text 2"/>
          <p:cNvSpPr/>
          <p:nvPr/>
        </p:nvSpPr>
        <p:spPr>
          <a:xfrm>
            <a:off x="320469" y="6990854"/>
            <a:ext cx="11127104" cy="99120"/>
          </a:xfrm>
          <a:prstGeom prst="rect">
            <a:avLst/>
          </a:prstGeom>
          <a:noFill/>
          <a:ln/>
        </p:spPr>
        <p:txBody>
          <a:bodyPr wrap="none" lIns="0" tIns="0" rIns="0" bIns="0" rtlCol="0" anchor="t"/>
          <a:lstStyle/>
          <a:p>
            <a:pPr marL="0" indent="0" algn="r" rtl="1">
              <a:lnSpc>
                <a:spcPct val="100000"/>
              </a:lnSpc>
              <a:buNone/>
            </a:pPr>
            <a:r>
              <a:rPr lang="ar-SA" altLang="en-US" sz="650" dirty="0">
                <a:solidFill>
                  <a:srgbClr val="000000"/>
                </a:solidFill>
                <a:latin typeface="Arial" pitchFamily="34" charset="0"/>
                <a:ea typeface="Arial" pitchFamily="34" charset="-122"/>
                <a:cs typeface="Arial" pitchFamily="34" charset="-120"/>
              </a:rPr>
              <a:t>تُعدّ هذه النتائج </a:t>
            </a:r>
            <a:r>
              <a:rPr lang="ar-SA" altLang="en-US" sz="650" b="1" dirty="0">
                <a:solidFill>
                  <a:srgbClr val="000000"/>
                </a:solidFill>
                <a:latin typeface="Arial" pitchFamily="34" charset="0"/>
                <a:ea typeface="Arial" pitchFamily="34" charset="-122"/>
                <a:cs typeface="Arial" pitchFamily="34" charset="-120"/>
              </a:rPr>
              <a:t>مشجعة جداً</a:t>
            </a:r>
            <a:r>
              <a:rPr lang="ar-SA" altLang="en-US" sz="650" dirty="0">
                <a:solidFill>
                  <a:srgbClr val="000000"/>
                </a:solidFill>
                <a:latin typeface="Arial" pitchFamily="34" charset="0"/>
                <a:ea typeface="Arial" pitchFamily="34" charset="-122"/>
                <a:cs typeface="Arial" pitchFamily="34" charset="-120"/>
              </a:rPr>
              <a:t> نظراً لندرة البيانات الحقيقية (223 صورة فقط)، وتعقيد طبيعة المخطوطات القديمة، وتلف بعض أجزائها — مما يجعل الوصول إلى دقة 72–75% إنجازاً تقنياً قيّماً.</a:t>
            </a:r>
            <a:endParaRPr lang="ar-SA" sz="650" dirty="0"/>
          </a:p>
        </p:txBody>
      </p:sp>
      <p:pic>
        <p:nvPicPr>
          <p:cNvPr id="8" name="Image 0" descr="preencoded.png"/>
          <p:cNvPicPr>
            <a:picLocks noChangeAspect="1"/>
          </p:cNvPicPr>
          <p:nvPr/>
        </p:nvPicPr>
        <p:blipFill>
          <a:blip r:embed="rId4"/>
          <a:stretch>
            <a:fillRect/>
          </a:stretch>
        </p:blipFill>
        <p:spPr>
          <a:xfrm>
            <a:off x="661627" y="385713"/>
            <a:ext cx="10868745" cy="6086574"/>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958056"/>
            <a:ext cx="10868745" cy="516731"/>
          </a:xfrm>
          <a:prstGeom prst="rect">
            <a:avLst/>
          </a:prstGeom>
          <a:noFill/>
          <a:ln/>
        </p:spPr>
        <p:txBody>
          <a:bodyPr wrap="none" lIns="0" tIns="0" rIns="0" bIns="0" rtlCol="0" anchor="t"/>
          <a:lstStyle/>
          <a:p>
            <a:pPr marL="0" indent="0" algn="r" rtl="1">
              <a:lnSpc>
                <a:spcPct val="104000"/>
              </a:lnSpc>
              <a:buNone/>
            </a:pPr>
            <a:r>
              <a:rPr lang="ar-SA" altLang="en-US" sz="3250" b="1" dirty="0">
                <a:solidFill>
                  <a:srgbClr val="282824"/>
                </a:solidFill>
                <a:latin typeface="Arial" pitchFamily="34" charset="0"/>
                <a:ea typeface="Arial" pitchFamily="34" charset="-122"/>
                <a:cs typeface="Arial" pitchFamily="34" charset="-120"/>
              </a:rPr>
              <a:t>التحديات والخلاصة</a:t>
            </a:r>
            <a:endParaRPr lang="ar-SA" sz="3250" dirty="0"/>
          </a:p>
        </p:txBody>
      </p:sp>
      <p:sp>
        <p:nvSpPr>
          <p:cNvPr id="3" name="Text 1"/>
          <p:cNvSpPr/>
          <p:nvPr/>
        </p:nvSpPr>
        <p:spPr>
          <a:xfrm>
            <a:off x="661475" y="1888133"/>
            <a:ext cx="5232666"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282824"/>
                </a:solidFill>
                <a:latin typeface="Arial" pitchFamily="34" charset="0"/>
                <a:ea typeface="Arial" pitchFamily="34" charset="-122"/>
                <a:cs typeface="Arial" pitchFamily="34" charset="-120"/>
              </a:rPr>
              <a:t>التحديات التي تم علاجها</a:t>
            </a:r>
            <a:endParaRPr lang="ar-SA" sz="1600" dirty="0"/>
          </a:p>
        </p:txBody>
      </p:sp>
      <p:pic>
        <p:nvPicPr>
          <p:cNvPr id="4" name="Image 0" descr="preencoded.png"/>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661475" y="2332633"/>
            <a:ext cx="5232666" cy="1057077"/>
          </a:xfrm>
          <a:prstGeom prst="rect">
            <a:avLst/>
          </a:prstGeom>
        </p:spPr>
      </p:pic>
      <p:sp>
        <p:nvSpPr>
          <p:cNvPr id="5" name="Text 2"/>
          <p:cNvSpPr/>
          <p:nvPr/>
        </p:nvSpPr>
        <p:spPr>
          <a:xfrm>
            <a:off x="845819" y="2516981"/>
            <a:ext cx="4787780"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تنوع الخطوط والحروف</a:t>
            </a:r>
            <a:endParaRPr lang="ar-SA" sz="1600" dirty="0"/>
          </a:p>
        </p:txBody>
      </p:sp>
      <p:sp>
        <p:nvSpPr>
          <p:cNvPr id="6" name="Text 3"/>
          <p:cNvSpPr/>
          <p:nvPr/>
        </p:nvSpPr>
        <p:spPr>
          <a:xfrm>
            <a:off x="845819" y="2940745"/>
            <a:ext cx="4787780" cy="264616"/>
          </a:xfrm>
          <a:prstGeom prst="rect">
            <a:avLst/>
          </a:prstGeom>
          <a:noFill/>
          <a:ln/>
        </p:spPr>
        <p:txBody>
          <a:bodyPr wrap="none" lIns="0" tIns="0" rIns="0" bIns="0" rtlCol="0" anchor="t"/>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اختلاف أشكال الحروف بين الكتّاب والحقب التاريخية المختلفة</a:t>
            </a:r>
            <a:endParaRPr lang="ar-SA" sz="1300" dirty="0"/>
          </a:p>
        </p:txBody>
      </p:sp>
      <p:pic>
        <p:nvPicPr>
          <p:cNvPr id="7" name="Image 1" descr="preencoded.png"/>
          <p:cNvPicPr>
            <a:picLocks noChangeAspect="1"/>
          </p:cNvPicPr>
          <p:nvPr/>
        </p:nvPicPr>
        <p:blipFill>
          <a:blip r:embed="rId3">
            <a:extLst>
              <a:ext uri="{96DAC541-7B7A-43D3-8B79-37D633B846F1}">
                <asvg:svgBlip xmlns="" xmlns:asvg="http://schemas.microsoft.com/office/drawing/2016/SVG/main" r:embed="rId5"/>
              </a:ext>
            </a:extLst>
          </a:blip>
          <a:stretch>
            <a:fillRect/>
          </a:stretch>
        </p:blipFill>
        <p:spPr>
          <a:xfrm>
            <a:off x="661475" y="3555008"/>
            <a:ext cx="5232666" cy="1057077"/>
          </a:xfrm>
          <a:prstGeom prst="rect">
            <a:avLst/>
          </a:prstGeom>
        </p:spPr>
      </p:pic>
      <p:sp>
        <p:nvSpPr>
          <p:cNvPr id="8" name="Text 4"/>
          <p:cNvSpPr/>
          <p:nvPr/>
        </p:nvSpPr>
        <p:spPr>
          <a:xfrm>
            <a:off x="845819" y="3739356"/>
            <a:ext cx="4787780"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4A4A45"/>
                </a:solidFill>
                <a:latin typeface="Arial" pitchFamily="34" charset="0"/>
                <a:ea typeface="Arial" pitchFamily="34" charset="-122"/>
                <a:cs typeface="Arial" pitchFamily="34" charset="-120"/>
              </a:rPr>
              <a:t>تدهور جودة الصور</a:t>
            </a:r>
            <a:endParaRPr lang="ar-SA" sz="1600" dirty="0"/>
          </a:p>
        </p:txBody>
      </p:sp>
      <p:sp>
        <p:nvSpPr>
          <p:cNvPr id="9" name="Text 5"/>
          <p:cNvSpPr/>
          <p:nvPr/>
        </p:nvSpPr>
        <p:spPr>
          <a:xfrm>
            <a:off x="845819" y="4163120"/>
            <a:ext cx="4787780" cy="264616"/>
          </a:xfrm>
          <a:prstGeom prst="rect">
            <a:avLst/>
          </a:prstGeom>
          <a:noFill/>
          <a:ln/>
        </p:spPr>
        <p:txBody>
          <a:bodyPr wrap="none" lIns="0" tIns="0" rIns="0" bIns="0" rtlCol="0" anchor="t"/>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وجود الخدوش والضوضاء والبقع وتفاوت جودة وخلفيات الصور التاريخية</a:t>
            </a:r>
            <a:endParaRPr lang="ar-SA" sz="1300" dirty="0"/>
          </a:p>
        </p:txBody>
      </p:sp>
      <p:sp>
        <p:nvSpPr>
          <p:cNvPr id="10" name="Text 6"/>
          <p:cNvSpPr/>
          <p:nvPr/>
        </p:nvSpPr>
        <p:spPr>
          <a:xfrm>
            <a:off x="661475" y="4798120"/>
            <a:ext cx="5232666"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282824"/>
                </a:solidFill>
                <a:latin typeface="Arial" pitchFamily="34" charset="0"/>
                <a:ea typeface="Arial" pitchFamily="34" charset="-122"/>
                <a:cs typeface="Arial" pitchFamily="34" charset="-120"/>
              </a:rPr>
              <a:t>الحلول المطبقة</a:t>
            </a:r>
            <a:endParaRPr lang="ar-SA" sz="1600" dirty="0"/>
          </a:p>
        </p:txBody>
      </p:sp>
      <p:sp>
        <p:nvSpPr>
          <p:cNvPr id="11" name="Text 7"/>
          <p:cNvSpPr/>
          <p:nvPr/>
        </p:nvSpPr>
        <p:spPr>
          <a:xfrm>
            <a:off x="661475" y="5221883"/>
            <a:ext cx="5232666" cy="529233"/>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4A4A45"/>
                </a:solidFill>
                <a:latin typeface="Arial" pitchFamily="34" charset="0"/>
                <a:ea typeface="Arial" pitchFamily="34" charset="-122"/>
                <a:cs typeface="Arial" pitchFamily="34" charset="-120"/>
              </a:rPr>
              <a:t>الدمج بين</a:t>
            </a:r>
            <a:r>
              <a:rPr lang="ar-SA" altLang="en-US" sz="1300" dirty="0">
                <a:solidFill>
                  <a:schemeClr val="bg2">
                    <a:lumMod val="25000"/>
                  </a:schemeClr>
                </a:solidFill>
                <a:latin typeface="Arial" pitchFamily="34" charset="0"/>
                <a:ea typeface="Arial" pitchFamily="34" charset="-122"/>
                <a:cs typeface="Arial" pitchFamily="34" charset="-120"/>
              </a:rPr>
              <a:t> </a:t>
            </a:r>
            <a:r>
              <a:rPr lang="ar-SA" altLang="en-US" sz="1300" b="1" dirty="0">
                <a:solidFill>
                  <a:schemeClr val="bg2">
                    <a:lumMod val="25000"/>
                  </a:schemeClr>
                </a:solidFill>
                <a:latin typeface="Arial" pitchFamily="34" charset="0"/>
                <a:ea typeface="Arial" pitchFamily="34" charset="-122"/>
                <a:cs typeface="Arial" pitchFamily="34" charset="-120"/>
              </a:rPr>
              <a:t>البيانات الاصطناعية الضخمة (19,000 صورة)</a:t>
            </a:r>
            <a:r>
              <a:rPr lang="ar-SA" altLang="en-US" sz="1300" dirty="0">
                <a:solidFill>
                  <a:schemeClr val="bg2">
                    <a:lumMod val="25000"/>
                  </a:schemeClr>
                </a:solidFill>
                <a:latin typeface="Arial" pitchFamily="34" charset="0"/>
                <a:ea typeface="Arial" pitchFamily="34" charset="-122"/>
                <a:cs typeface="Arial" pitchFamily="34" charset="-120"/>
              </a:rPr>
              <a:t> </a:t>
            </a:r>
            <a:r>
              <a:rPr lang="ar-SA" altLang="en-US" sz="1300" dirty="0">
                <a:solidFill>
                  <a:srgbClr val="4A4A45"/>
                </a:solidFill>
                <a:latin typeface="Arial" pitchFamily="34" charset="0"/>
                <a:ea typeface="Arial" pitchFamily="34" charset="-122"/>
                <a:cs typeface="Arial" pitchFamily="34" charset="-120"/>
              </a:rPr>
              <a:t>والمعالجة المسبقة للصور والضبط الدقيق بالبيانات الحقيقية لتحقيق أداء متوازن وقابل للتعميم.</a:t>
            </a:r>
            <a:endParaRPr lang="ar-SA" sz="1300" dirty="0"/>
          </a:p>
        </p:txBody>
      </p:sp>
      <p:sp>
        <p:nvSpPr>
          <p:cNvPr id="12" name="Shape 8"/>
          <p:cNvSpPr/>
          <p:nvPr/>
        </p:nvSpPr>
        <p:spPr>
          <a:xfrm>
            <a:off x="6184844" y="1722834"/>
            <a:ext cx="5470785" cy="4177109"/>
          </a:xfrm>
          <a:prstGeom prst="roundRect">
            <a:avLst>
              <a:gd name="adj" fmla="val 594"/>
            </a:avLst>
          </a:prstGeom>
          <a:gradFill flip="none" rotWithShape="1">
            <a:gsLst>
              <a:gs pos="0">
                <a:srgbClr val="996633">
                  <a:tint val="66000"/>
                  <a:satMod val="160000"/>
                </a:srgbClr>
              </a:gs>
              <a:gs pos="50000">
                <a:srgbClr val="996633">
                  <a:tint val="44500"/>
                  <a:satMod val="160000"/>
                </a:srgbClr>
              </a:gs>
              <a:gs pos="100000">
                <a:srgbClr val="996633">
                  <a:tint val="23500"/>
                  <a:satMod val="160000"/>
                </a:srgbClr>
              </a:gs>
            </a:gsLst>
            <a:lin ang="0" scaled="1"/>
            <a:tileRect/>
          </a:gradFill>
          <a:ln/>
        </p:spPr>
      </p:sp>
      <p:sp>
        <p:nvSpPr>
          <p:cNvPr id="13" name="Text 9"/>
          <p:cNvSpPr/>
          <p:nvPr/>
        </p:nvSpPr>
        <p:spPr>
          <a:xfrm>
            <a:off x="6350139" y="1888133"/>
            <a:ext cx="5140196"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282824"/>
                </a:solidFill>
                <a:latin typeface="Arial" pitchFamily="34" charset="0"/>
                <a:ea typeface="Arial" pitchFamily="34" charset="-122"/>
                <a:cs typeface="Arial" pitchFamily="34" charset="-120"/>
              </a:rPr>
              <a:t>الخلاصة</a:t>
            </a:r>
            <a:endParaRPr lang="ar-SA" sz="1600" dirty="0"/>
          </a:p>
        </p:txBody>
      </p:sp>
      <p:sp>
        <p:nvSpPr>
          <p:cNvPr id="14" name="Text 10"/>
          <p:cNvSpPr/>
          <p:nvPr/>
        </p:nvSpPr>
        <p:spPr>
          <a:xfrm>
            <a:off x="6350139" y="2311896"/>
            <a:ext cx="5140196" cy="529233"/>
          </a:xfrm>
          <a:prstGeom prst="rect">
            <a:avLst/>
          </a:prstGeom>
          <a:noFill/>
          <a:ln/>
        </p:spPr>
        <p:txBody>
          <a:bodyPr wrap="square" lIns="0" tIns="0" rIns="0" bIns="0" rtlCol="0" anchor="t">
            <a:normAutofit/>
          </a:bodyPr>
          <a:lstStyle/>
          <a:p>
            <a:pPr marL="0" indent="0" algn="r" rtl="1">
              <a:lnSpc>
                <a:spcPct val="133000"/>
              </a:lnSpc>
              <a:buNone/>
            </a:pPr>
            <a:r>
              <a:rPr lang="ar-SA" altLang="en-US" sz="1300" dirty="0">
                <a:solidFill>
                  <a:srgbClr val="000000"/>
                </a:solidFill>
                <a:latin typeface="Arial" pitchFamily="34" charset="0"/>
                <a:ea typeface="Arial" pitchFamily="34" charset="-122"/>
                <a:cs typeface="Arial" pitchFamily="34" charset="-120"/>
              </a:rPr>
              <a:t>النجاح في بناء نظام OCR متكامل ومستقل للغة الروسية القديمة، وانتقاله من مرحلة البحث </a:t>
            </a:r>
            <a:r>
              <a:rPr lang="ar-SA" altLang="en-US" sz="1300" u="sng" dirty="0">
                <a:solidFill>
                  <a:srgbClr val="000000"/>
                </a:solidFill>
                <a:latin typeface="Arial" pitchFamily="34" charset="0"/>
                <a:ea typeface="Arial" pitchFamily="34" charset="-122"/>
                <a:cs typeface="Arial" pitchFamily="34" charset="-120"/>
              </a:rPr>
              <a:t>والتدريب </a:t>
            </a:r>
            <a:r>
              <a:rPr lang="ar-SA" altLang="en-US" sz="1300" dirty="0">
                <a:solidFill>
                  <a:srgbClr val="000000"/>
                </a:solidFill>
                <a:latin typeface="Arial" pitchFamily="34" charset="0"/>
                <a:ea typeface="Arial" pitchFamily="34" charset="-122"/>
                <a:cs typeface="Arial" pitchFamily="34" charset="-120"/>
              </a:rPr>
              <a:t>إلى </a:t>
            </a:r>
            <a:r>
              <a:rPr lang="ar-SA" altLang="en-US" sz="1300" b="1" dirty="0">
                <a:solidFill>
                  <a:srgbClr val="000000"/>
                </a:solidFill>
                <a:latin typeface="Arial" pitchFamily="34" charset="0"/>
                <a:ea typeface="Arial" pitchFamily="34" charset="-122"/>
                <a:cs typeface="Arial" pitchFamily="34" charset="-120"/>
              </a:rPr>
              <a:t>تطبيق عملي متاح عبر الويب والجوال</a:t>
            </a:r>
            <a:r>
              <a:rPr lang="ar-SA" altLang="en-US" sz="1300" dirty="0">
                <a:solidFill>
                  <a:srgbClr val="000000"/>
                </a:solidFill>
                <a:latin typeface="Lato" pitchFamily="34" charset="0"/>
                <a:ea typeface="Lato" pitchFamily="34" charset="-122"/>
                <a:cs typeface="Lato" pitchFamily="34" charset="-120"/>
              </a:rPr>
              <a:t>.</a:t>
            </a:r>
            <a:endParaRPr lang="ar-SA" sz="1300" dirty="0"/>
          </a:p>
        </p:txBody>
      </p:sp>
      <p:sp>
        <p:nvSpPr>
          <p:cNvPr id="15" name="Shape 11"/>
          <p:cNvSpPr/>
          <p:nvPr/>
        </p:nvSpPr>
        <p:spPr>
          <a:xfrm>
            <a:off x="9002884" y="3027164"/>
            <a:ext cx="2487451" cy="1018977"/>
          </a:xfrm>
          <a:prstGeom prst="roundRect">
            <a:avLst>
              <a:gd name="adj" fmla="val 2435"/>
            </a:avLst>
          </a:prstGeom>
          <a:solidFill>
            <a:srgbClr val="E5DFD2"/>
          </a:solidFill>
          <a:ln/>
        </p:spPr>
      </p:sp>
      <p:sp>
        <p:nvSpPr>
          <p:cNvPr id="16" name="Text 12"/>
          <p:cNvSpPr/>
          <p:nvPr/>
        </p:nvSpPr>
        <p:spPr>
          <a:xfrm>
            <a:off x="9168178" y="3192463"/>
            <a:ext cx="2156862" cy="258465"/>
          </a:xfrm>
          <a:prstGeom prst="rect">
            <a:avLst/>
          </a:prstGeom>
          <a:noFill/>
          <a:ln/>
        </p:spPr>
        <p:txBody>
          <a:bodyPr wrap="none" lIns="0" tIns="0" rIns="0" bIns="0" rtlCol="0" anchor="t"/>
          <a:lstStyle/>
          <a:p>
            <a:pPr marL="0" indent="0" algn="r" rtl="1">
              <a:lnSpc>
                <a:spcPct val="104000"/>
              </a:lnSpc>
              <a:buNone/>
            </a:pPr>
            <a:r>
              <a:rPr lang="ar-SA" altLang="en-US" sz="1600" b="1" dirty="0">
                <a:solidFill>
                  <a:srgbClr val="000000"/>
                </a:solidFill>
                <a:latin typeface="Arial" pitchFamily="34" charset="0"/>
                <a:ea typeface="Arial" pitchFamily="34" charset="-122"/>
                <a:cs typeface="Arial" pitchFamily="34" charset="-120"/>
              </a:rPr>
              <a:t>38 فئة</a:t>
            </a:r>
            <a:endParaRPr lang="ar-SA" sz="1600" dirty="0"/>
          </a:p>
        </p:txBody>
      </p:sp>
      <p:sp>
        <p:nvSpPr>
          <p:cNvPr id="17" name="Text 13"/>
          <p:cNvSpPr/>
          <p:nvPr/>
        </p:nvSpPr>
        <p:spPr>
          <a:xfrm>
            <a:off x="9168178" y="3616226"/>
            <a:ext cx="2156862" cy="264616"/>
          </a:xfrm>
          <a:prstGeom prst="rect">
            <a:avLst/>
          </a:prstGeom>
          <a:noFill/>
          <a:ln/>
        </p:spPr>
        <p:txBody>
          <a:bodyPr wrap="none" lIns="0" tIns="0" rIns="0" bIns="0" rtlCol="0" anchor="t"/>
          <a:lstStyle/>
          <a:p>
            <a:pPr marL="0" indent="0" algn="r" rtl="1">
              <a:lnSpc>
                <a:spcPct val="133000"/>
              </a:lnSpc>
              <a:buNone/>
            </a:pPr>
            <a:r>
              <a:rPr lang="ar-SA" altLang="en-US" sz="1300" dirty="0">
                <a:solidFill>
                  <a:srgbClr val="000000"/>
                </a:solidFill>
                <a:latin typeface="Arial" pitchFamily="34" charset="0"/>
                <a:ea typeface="Arial" pitchFamily="34" charset="-122"/>
                <a:cs typeface="Arial" pitchFamily="34" charset="-120"/>
              </a:rPr>
              <a:t>حرف معتمد في الأبجدية</a:t>
            </a:r>
            <a:endParaRPr lang="ar-SA" sz="1300" dirty="0"/>
          </a:p>
        </p:txBody>
      </p:sp>
      <p:sp>
        <p:nvSpPr>
          <p:cNvPr id="18" name="Shape 14"/>
          <p:cNvSpPr/>
          <p:nvPr/>
        </p:nvSpPr>
        <p:spPr>
          <a:xfrm>
            <a:off x="6350139" y="3027164"/>
            <a:ext cx="2487451" cy="1018977"/>
          </a:xfrm>
          <a:prstGeom prst="roundRect">
            <a:avLst>
              <a:gd name="adj" fmla="val 2435"/>
            </a:avLst>
          </a:prstGeom>
          <a:solidFill>
            <a:srgbClr val="E5DFD2"/>
          </a:solidFill>
          <a:ln/>
        </p:spPr>
      </p:sp>
      <p:sp>
        <p:nvSpPr>
          <p:cNvPr id="19" name="Text 15"/>
          <p:cNvSpPr/>
          <p:nvPr/>
        </p:nvSpPr>
        <p:spPr>
          <a:xfrm>
            <a:off x="6515433" y="3192463"/>
            <a:ext cx="2156862" cy="258465"/>
          </a:xfrm>
          <a:prstGeom prst="rect">
            <a:avLst/>
          </a:prstGeom>
          <a:noFill/>
          <a:ln/>
        </p:spPr>
        <p:txBody>
          <a:bodyPr wrap="none" lIns="0" tIns="0" rIns="0" bIns="0" rtlCol="0" anchor="t"/>
          <a:lstStyle/>
          <a:p>
            <a:pPr marL="0" indent="0" algn="r" rtl="1">
              <a:lnSpc>
                <a:spcPct val="104000"/>
              </a:lnSpc>
              <a:buNone/>
            </a:pPr>
            <a:r>
              <a:rPr lang="en-US" sz="1600" b="1" dirty="0">
                <a:solidFill>
                  <a:srgbClr val="000000"/>
                </a:solidFill>
                <a:latin typeface="Lato Bold" pitchFamily="34" charset="0"/>
                <a:ea typeface="Lato Bold" pitchFamily="34" charset="-122"/>
                <a:cs typeface="Lato Bold" pitchFamily="34" charset="-120"/>
              </a:rPr>
              <a:t>19,223</a:t>
            </a:r>
            <a:endParaRPr lang="en-US" sz="1600" dirty="0"/>
          </a:p>
        </p:txBody>
      </p:sp>
      <p:sp>
        <p:nvSpPr>
          <p:cNvPr id="20" name="Text 16"/>
          <p:cNvSpPr/>
          <p:nvPr/>
        </p:nvSpPr>
        <p:spPr>
          <a:xfrm>
            <a:off x="6515433" y="3616226"/>
            <a:ext cx="2156862" cy="264616"/>
          </a:xfrm>
          <a:prstGeom prst="rect">
            <a:avLst/>
          </a:prstGeom>
          <a:noFill/>
          <a:ln/>
        </p:spPr>
        <p:txBody>
          <a:bodyPr wrap="none" lIns="0" tIns="0" rIns="0" bIns="0" rtlCol="0" anchor="t"/>
          <a:lstStyle/>
          <a:p>
            <a:pPr marL="0" indent="0" algn="r" rtl="1">
              <a:lnSpc>
                <a:spcPct val="133000"/>
              </a:lnSpc>
              <a:buNone/>
            </a:pPr>
            <a:r>
              <a:rPr lang="ar-SA" altLang="en-US" sz="1300" dirty="0">
                <a:solidFill>
                  <a:srgbClr val="000000"/>
                </a:solidFill>
                <a:latin typeface="Arial" pitchFamily="34" charset="0"/>
                <a:ea typeface="Arial" pitchFamily="34" charset="-122"/>
                <a:cs typeface="Arial" pitchFamily="34" charset="-120"/>
              </a:rPr>
              <a:t>صورة تدريب إجمالية</a:t>
            </a:r>
            <a:endParaRPr lang="ar-SA" sz="1300" dirty="0"/>
          </a:p>
        </p:txBody>
      </p:sp>
      <p:sp>
        <p:nvSpPr>
          <p:cNvPr id="21" name="Shape 17"/>
          <p:cNvSpPr/>
          <p:nvPr/>
        </p:nvSpPr>
        <p:spPr>
          <a:xfrm>
            <a:off x="6350139" y="4211439"/>
            <a:ext cx="5140196" cy="1018977"/>
          </a:xfrm>
          <a:prstGeom prst="roundRect">
            <a:avLst>
              <a:gd name="adj" fmla="val 2435"/>
            </a:avLst>
          </a:prstGeom>
          <a:solidFill>
            <a:srgbClr val="E5DFD2"/>
          </a:solidFill>
          <a:ln/>
        </p:spPr>
      </p:sp>
      <p:sp>
        <p:nvSpPr>
          <p:cNvPr id="22" name="Text 18"/>
          <p:cNvSpPr/>
          <p:nvPr/>
        </p:nvSpPr>
        <p:spPr>
          <a:xfrm>
            <a:off x="6515433" y="4376738"/>
            <a:ext cx="4809608" cy="258465"/>
          </a:xfrm>
          <a:prstGeom prst="rect">
            <a:avLst/>
          </a:prstGeom>
          <a:noFill/>
          <a:ln/>
        </p:spPr>
        <p:txBody>
          <a:bodyPr wrap="none" lIns="0" tIns="0" rIns="0" bIns="0" rtlCol="0" anchor="t"/>
          <a:lstStyle/>
          <a:p>
            <a:pPr marL="0" indent="0" algn="r" rtl="1">
              <a:lnSpc>
                <a:spcPct val="104000"/>
              </a:lnSpc>
              <a:buNone/>
            </a:pPr>
            <a:r>
              <a:rPr lang="en-US" sz="1600" b="1" dirty="0">
                <a:solidFill>
                  <a:srgbClr val="000000"/>
                </a:solidFill>
                <a:latin typeface="Lato Bold" pitchFamily="34" charset="0"/>
                <a:ea typeface="Lato Bold" pitchFamily="34" charset="-122"/>
                <a:cs typeface="Lato Bold" pitchFamily="34" charset="-120"/>
              </a:rPr>
              <a:t>75%</a:t>
            </a:r>
            <a:endParaRPr lang="en-US" sz="1600" dirty="0"/>
          </a:p>
        </p:txBody>
      </p:sp>
      <p:sp>
        <p:nvSpPr>
          <p:cNvPr id="23" name="Text 19"/>
          <p:cNvSpPr/>
          <p:nvPr/>
        </p:nvSpPr>
        <p:spPr>
          <a:xfrm>
            <a:off x="6515433" y="4800501"/>
            <a:ext cx="4809608" cy="264616"/>
          </a:xfrm>
          <a:prstGeom prst="rect">
            <a:avLst/>
          </a:prstGeom>
          <a:noFill/>
          <a:ln/>
        </p:spPr>
        <p:txBody>
          <a:bodyPr wrap="none" lIns="0" tIns="0" rIns="0" bIns="0" rtlCol="0" anchor="t"/>
          <a:lstStyle/>
          <a:p>
            <a:pPr marL="0" indent="0" algn="r" rtl="1">
              <a:lnSpc>
                <a:spcPct val="133000"/>
              </a:lnSpc>
              <a:buNone/>
            </a:pPr>
            <a:r>
              <a:rPr lang="ar-SA" altLang="en-US" sz="1300" dirty="0">
                <a:solidFill>
                  <a:srgbClr val="000000"/>
                </a:solidFill>
                <a:latin typeface="Arial" pitchFamily="34" charset="0"/>
                <a:ea typeface="Arial" pitchFamily="34" charset="-122"/>
                <a:cs typeface="Arial" pitchFamily="34" charset="-120"/>
              </a:rPr>
              <a:t>أعلى دقة للصناديق</a:t>
            </a:r>
            <a:endParaRPr lang="ar-SA" sz="13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717</Words>
  <Application>Microsoft Office PowerPoint</Application>
  <PresentationFormat>مخصص</PresentationFormat>
  <Paragraphs>115</Paragraphs>
  <Slides>10</Slides>
  <Notes>10</Notes>
  <HiddenSlides>0</HiddenSlides>
  <MMClips>0</MMClips>
  <ScaleCrop>false</ScaleCrop>
  <HeadingPairs>
    <vt:vector size="6" baseType="variant">
      <vt:variant>
        <vt:lpstr>الخطوط المستخدمة</vt:lpstr>
      </vt:variant>
      <vt:variant>
        <vt:i4>6</vt:i4>
      </vt:variant>
      <vt:variant>
        <vt:lpstr>نسق</vt:lpstr>
      </vt:variant>
      <vt:variant>
        <vt:i4>1</vt:i4>
      </vt:variant>
      <vt:variant>
        <vt:lpstr>عناوين الشرائح</vt:lpstr>
      </vt:variant>
      <vt:variant>
        <vt:i4>10</vt:i4>
      </vt:variant>
    </vt:vector>
  </HeadingPairs>
  <TitlesOfParts>
    <vt:vector size="17" baseType="lpstr">
      <vt:lpstr>Arial</vt:lpstr>
      <vt:lpstr>Calibri</vt:lpstr>
      <vt:lpstr>Lato Light</vt:lpstr>
      <vt:lpstr>Lato Bold</vt:lpstr>
      <vt:lpstr>Consolas</vt:lpstr>
      <vt:lpstr>Lato</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Ro Has</dc:creator>
  <cp:lastModifiedBy>Ro.Has</cp:lastModifiedBy>
  <cp:revision>4</cp:revision>
  <dcterms:created xsi:type="dcterms:W3CDTF">2026-09-08T13:48:36Z</dcterms:created>
  <dcterms:modified xsi:type="dcterms:W3CDTF">2026-09-08T14:19:41Z</dcterms:modified>
</cp:coreProperties>
</file>